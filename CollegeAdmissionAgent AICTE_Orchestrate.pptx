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74" r:id="rId9"/>
    <p:sldId id="275" r:id="rId10"/>
    <p:sldId id="264" r:id="rId11"/>
    <p:sldId id="265" r:id="rId12"/>
    <p:sldId id="276" r:id="rId13"/>
    <p:sldId id="277" r:id="rId14"/>
    <p:sldId id="278" r:id="rId15"/>
    <p:sldId id="279" r:id="rId16"/>
    <p:sldId id="280" r:id="rId17"/>
    <p:sldId id="281" r:id="rId18"/>
    <p:sldId id="282" r:id="rId19"/>
    <p:sldId id="266" r:id="rId20"/>
    <p:sldId id="267" r:id="rId21"/>
    <p:sldId id="268" r:id="rId22"/>
    <p:sldId id="273" r:id="rId23"/>
    <p:sldId id="269" r:id="rId24"/>
    <p:sldId id="270" r:id="rId25"/>
    <p:sldId id="271" r:id="rId26"/>
    <p:sldId id="272" r:id="rId27"/>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672" y="3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55587" y="250507"/>
            <a:ext cx="11680825" cy="391795"/>
          </a:xfrm>
          <a:prstGeom prst="rect">
            <a:avLst/>
          </a:prstGeom>
        </p:spPr>
        <p:txBody>
          <a:bodyPr wrap="square" lIns="0" tIns="0" rIns="0" bIns="0">
            <a:spAutoFit/>
          </a:bodyPr>
          <a:lstStyle>
            <a:lvl1pPr>
              <a:defRPr sz="2400" b="1" i="0">
                <a:solidFill>
                  <a:schemeClr val="tx1"/>
                </a:solidFill>
                <a:latin typeface="Arial"/>
                <a:cs typeface="Aria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tx1"/>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7/12/2026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7/12/2026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7/12/2026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25462" y="292036"/>
            <a:ext cx="6885940" cy="676338"/>
          </a:xfrm>
          <a:prstGeom prst="rect">
            <a:avLst/>
          </a:prstGeom>
        </p:spPr>
        <p:txBody>
          <a:bodyPr wrap="square" lIns="0" tIns="0" rIns="0" bIns="0">
            <a:spAutoFit/>
          </a:bodyPr>
          <a:lstStyle>
            <a:lvl1pPr>
              <a:defRPr sz="2400" b="1" i="0">
                <a:solidFill>
                  <a:schemeClr val="tx1"/>
                </a:solidFill>
                <a:latin typeface="Arial"/>
                <a:cs typeface="Arial"/>
              </a:defRPr>
            </a:lvl1pPr>
          </a:lstStyle>
          <a:p>
            <a:endParaRPr/>
          </a:p>
        </p:txBody>
      </p:sp>
      <p:sp>
        <p:nvSpPr>
          <p:cNvPr id="3" name="Holder 3"/>
          <p:cNvSpPr>
            <a:spLocks noGrp="1"/>
          </p:cNvSpPr>
          <p:nvPr>
            <p:ph type="body" idx="1"/>
          </p:nvPr>
        </p:nvSpPr>
        <p:spPr>
          <a:xfrm>
            <a:off x="1254760" y="2593975"/>
            <a:ext cx="9484360" cy="216662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7/12/2026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p:nvPr/>
        </p:nvSpPr>
        <p:spPr>
          <a:xfrm>
            <a:off x="1234439" y="1720913"/>
            <a:ext cx="9720580" cy="1938655"/>
          </a:xfrm>
          <a:prstGeom prst="rect">
            <a:avLst/>
          </a:prstGeom>
        </p:spPr>
        <p:txBody>
          <a:bodyPr vert="horz" wrap="square" lIns="0" tIns="127000" rIns="0" bIns="0" rtlCol="0">
            <a:spAutoFit/>
          </a:bodyPr>
          <a:lstStyle/>
          <a:p>
            <a:pPr marL="1545590" marR="5080" indent="-1533525">
              <a:lnSpc>
                <a:spcPts val="7130"/>
              </a:lnSpc>
              <a:spcBef>
                <a:spcPts val="1000"/>
              </a:spcBef>
            </a:pPr>
            <a:r>
              <a:rPr sz="6600" b="1" dirty="0">
                <a:latin typeface="Calibri"/>
                <a:cs typeface="Calibri"/>
              </a:rPr>
              <a:t>IBM</a:t>
            </a:r>
            <a:r>
              <a:rPr sz="6600" b="1" spc="-60" dirty="0">
                <a:latin typeface="Calibri"/>
                <a:cs typeface="Calibri"/>
              </a:rPr>
              <a:t> </a:t>
            </a:r>
            <a:r>
              <a:rPr sz="6600" b="1" dirty="0">
                <a:latin typeface="Calibri"/>
                <a:cs typeface="Calibri"/>
              </a:rPr>
              <a:t>University</a:t>
            </a:r>
            <a:r>
              <a:rPr sz="6600" b="1" spc="-105" dirty="0">
                <a:latin typeface="Calibri"/>
                <a:cs typeface="Calibri"/>
              </a:rPr>
              <a:t> </a:t>
            </a:r>
            <a:r>
              <a:rPr sz="6600" b="1" spc="-10" dirty="0">
                <a:latin typeface="Calibri"/>
                <a:cs typeface="Calibri"/>
              </a:rPr>
              <a:t>Engagement </a:t>
            </a:r>
            <a:r>
              <a:rPr sz="6600" b="1" dirty="0">
                <a:latin typeface="Calibri"/>
                <a:cs typeface="Calibri"/>
              </a:rPr>
              <a:t>Project</a:t>
            </a:r>
            <a:r>
              <a:rPr sz="6600" b="1" spc="-10" dirty="0">
                <a:latin typeface="Calibri"/>
                <a:cs typeface="Calibri"/>
              </a:rPr>
              <a:t> Submission</a:t>
            </a:r>
            <a:endParaRPr sz="6600">
              <a:latin typeface="Calibri"/>
              <a:cs typeface="Calibri"/>
            </a:endParaRPr>
          </a:p>
        </p:txBody>
      </p:sp>
      <p:sp>
        <p:nvSpPr>
          <p:cNvPr id="3" name="object 3"/>
          <p:cNvSpPr txBox="1"/>
          <p:nvPr/>
        </p:nvSpPr>
        <p:spPr>
          <a:xfrm>
            <a:off x="2065020" y="4009072"/>
            <a:ext cx="8653145" cy="391795"/>
          </a:xfrm>
          <a:prstGeom prst="rect">
            <a:avLst/>
          </a:prstGeom>
        </p:spPr>
        <p:txBody>
          <a:bodyPr vert="horz" wrap="square" lIns="0" tIns="12700" rIns="0" bIns="0" rtlCol="0">
            <a:spAutoFit/>
          </a:bodyPr>
          <a:lstStyle/>
          <a:p>
            <a:pPr marL="12700">
              <a:lnSpc>
                <a:spcPct val="100000"/>
              </a:lnSpc>
              <a:spcBef>
                <a:spcPts val="100"/>
              </a:spcBef>
            </a:pPr>
            <a:r>
              <a:rPr sz="2400" b="1" i="1" dirty="0">
                <a:solidFill>
                  <a:srgbClr val="878787"/>
                </a:solidFill>
                <a:latin typeface="Calibri"/>
                <a:cs typeface="Calibri"/>
              </a:rPr>
              <a:t>“Exploring</a:t>
            </a:r>
            <a:r>
              <a:rPr sz="2400" b="1" i="1" spc="-65" dirty="0">
                <a:solidFill>
                  <a:srgbClr val="878787"/>
                </a:solidFill>
                <a:latin typeface="Calibri"/>
                <a:cs typeface="Calibri"/>
              </a:rPr>
              <a:t> </a:t>
            </a:r>
            <a:r>
              <a:rPr sz="2400" b="1" i="1" dirty="0">
                <a:solidFill>
                  <a:srgbClr val="878787"/>
                </a:solidFill>
                <a:latin typeface="Calibri"/>
                <a:cs typeface="Calibri"/>
              </a:rPr>
              <a:t>the</a:t>
            </a:r>
            <a:r>
              <a:rPr sz="2400" b="1" i="1" spc="-50" dirty="0">
                <a:solidFill>
                  <a:srgbClr val="878787"/>
                </a:solidFill>
                <a:latin typeface="Calibri"/>
                <a:cs typeface="Calibri"/>
              </a:rPr>
              <a:t> </a:t>
            </a:r>
            <a:r>
              <a:rPr sz="2400" b="1" i="1" dirty="0">
                <a:solidFill>
                  <a:srgbClr val="878787"/>
                </a:solidFill>
                <a:latin typeface="Calibri"/>
                <a:cs typeface="Calibri"/>
              </a:rPr>
              <a:t>Power</a:t>
            </a:r>
            <a:r>
              <a:rPr sz="2400" b="1" i="1" spc="-20" dirty="0">
                <a:solidFill>
                  <a:srgbClr val="878787"/>
                </a:solidFill>
                <a:latin typeface="Calibri"/>
                <a:cs typeface="Calibri"/>
              </a:rPr>
              <a:t> </a:t>
            </a:r>
            <a:r>
              <a:rPr sz="2400" b="1" i="1" dirty="0">
                <a:solidFill>
                  <a:srgbClr val="878787"/>
                </a:solidFill>
                <a:latin typeface="Calibri"/>
                <a:cs typeface="Calibri"/>
              </a:rPr>
              <a:t>of</a:t>
            </a:r>
            <a:r>
              <a:rPr sz="2400" b="1" i="1" spc="-5" dirty="0">
                <a:solidFill>
                  <a:srgbClr val="878787"/>
                </a:solidFill>
                <a:latin typeface="Calibri"/>
                <a:cs typeface="Calibri"/>
              </a:rPr>
              <a:t> </a:t>
            </a:r>
            <a:r>
              <a:rPr sz="2400" b="1" i="1" dirty="0">
                <a:solidFill>
                  <a:srgbClr val="878787"/>
                </a:solidFill>
                <a:latin typeface="Calibri"/>
                <a:cs typeface="Calibri"/>
              </a:rPr>
              <a:t>Agentic</a:t>
            </a:r>
            <a:r>
              <a:rPr sz="2400" b="1" i="1" spc="-10" dirty="0">
                <a:solidFill>
                  <a:srgbClr val="878787"/>
                </a:solidFill>
                <a:latin typeface="Calibri"/>
                <a:cs typeface="Calibri"/>
              </a:rPr>
              <a:t> </a:t>
            </a:r>
            <a:r>
              <a:rPr sz="2400" b="1" i="1" dirty="0">
                <a:solidFill>
                  <a:srgbClr val="878787"/>
                </a:solidFill>
                <a:latin typeface="Calibri"/>
                <a:cs typeface="Calibri"/>
              </a:rPr>
              <a:t>AI</a:t>
            </a:r>
            <a:r>
              <a:rPr sz="2400" b="1" i="1" spc="-35" dirty="0">
                <a:solidFill>
                  <a:srgbClr val="878787"/>
                </a:solidFill>
                <a:latin typeface="Calibri"/>
                <a:cs typeface="Calibri"/>
              </a:rPr>
              <a:t> </a:t>
            </a:r>
            <a:r>
              <a:rPr sz="2400" b="1" i="1" dirty="0">
                <a:solidFill>
                  <a:srgbClr val="878787"/>
                </a:solidFill>
                <a:latin typeface="Calibri"/>
                <a:cs typeface="Calibri"/>
              </a:rPr>
              <a:t>with</a:t>
            </a:r>
            <a:r>
              <a:rPr sz="2400" b="1" i="1" spc="-60" dirty="0">
                <a:solidFill>
                  <a:srgbClr val="878787"/>
                </a:solidFill>
                <a:latin typeface="Calibri"/>
                <a:cs typeface="Calibri"/>
              </a:rPr>
              <a:t> </a:t>
            </a:r>
            <a:r>
              <a:rPr sz="2400" b="1" i="1" dirty="0">
                <a:solidFill>
                  <a:srgbClr val="878787"/>
                </a:solidFill>
                <a:latin typeface="Calibri"/>
                <a:cs typeface="Calibri"/>
              </a:rPr>
              <a:t>IBM</a:t>
            </a:r>
            <a:r>
              <a:rPr sz="2400" b="1" i="1" spc="-60" dirty="0">
                <a:solidFill>
                  <a:srgbClr val="878787"/>
                </a:solidFill>
                <a:latin typeface="Calibri"/>
                <a:cs typeface="Calibri"/>
              </a:rPr>
              <a:t> </a:t>
            </a:r>
            <a:r>
              <a:rPr sz="2400" b="1" i="1" dirty="0">
                <a:solidFill>
                  <a:srgbClr val="878787"/>
                </a:solidFill>
                <a:latin typeface="Calibri"/>
                <a:cs typeface="Calibri"/>
              </a:rPr>
              <a:t>Cloud</a:t>
            </a:r>
            <a:r>
              <a:rPr sz="2400" b="1" i="1" spc="-60" dirty="0">
                <a:solidFill>
                  <a:srgbClr val="878787"/>
                </a:solidFill>
                <a:latin typeface="Calibri"/>
                <a:cs typeface="Calibri"/>
              </a:rPr>
              <a:t> </a:t>
            </a:r>
            <a:r>
              <a:rPr sz="2400" b="1" i="1" dirty="0">
                <a:solidFill>
                  <a:srgbClr val="878787"/>
                </a:solidFill>
                <a:latin typeface="Calibri"/>
                <a:cs typeface="Calibri"/>
              </a:rPr>
              <a:t>and</a:t>
            </a:r>
            <a:r>
              <a:rPr sz="2400" b="1" i="1" spc="-60" dirty="0">
                <a:solidFill>
                  <a:srgbClr val="878787"/>
                </a:solidFill>
                <a:latin typeface="Calibri"/>
                <a:cs typeface="Calibri"/>
              </a:rPr>
              <a:t> </a:t>
            </a:r>
            <a:r>
              <a:rPr sz="2400" b="1" i="1" spc="-10" dirty="0">
                <a:solidFill>
                  <a:srgbClr val="878787"/>
                </a:solidFill>
                <a:latin typeface="Calibri"/>
                <a:cs typeface="Calibri"/>
              </a:rPr>
              <a:t>Orchestrate”</a:t>
            </a:r>
            <a:endParaRPr sz="2400" dirty="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1434975585"/>
              </p:ext>
            </p:extLst>
          </p:nvPr>
        </p:nvGraphicFramePr>
        <p:xfrm>
          <a:off x="1292860" y="3276600"/>
          <a:ext cx="9395458" cy="2590800"/>
        </p:xfrm>
        <a:graphic>
          <a:graphicData uri="http://schemas.openxmlformats.org/drawingml/2006/table">
            <a:tbl>
              <a:tblPr firstRow="1" bandRow="1">
                <a:tableStyleId>{2D5ABB26-0587-4C30-8999-92F81FD0307C}</a:tableStyleId>
              </a:tblPr>
              <a:tblGrid>
                <a:gridCol w="2065020"/>
                <a:gridCol w="2443480"/>
                <a:gridCol w="2809240"/>
                <a:gridCol w="2077718"/>
              </a:tblGrid>
              <a:tr h="1163278">
                <a:tc>
                  <a:txBody>
                    <a:bodyPr/>
                    <a:lstStyle/>
                    <a:p>
                      <a:pPr>
                        <a:lnSpc>
                          <a:spcPct val="100000"/>
                        </a:lnSpc>
                        <a:spcBef>
                          <a:spcPts val="640"/>
                        </a:spcBef>
                      </a:pPr>
                      <a:endParaRPr sz="1800" dirty="0">
                        <a:latin typeface="Times New Roman"/>
                        <a:cs typeface="Times New Roman"/>
                      </a:endParaRPr>
                    </a:p>
                    <a:p>
                      <a:pPr marL="303530">
                        <a:lnSpc>
                          <a:spcPct val="100000"/>
                        </a:lnSpc>
                      </a:pPr>
                      <a:r>
                        <a:rPr sz="1800" dirty="0">
                          <a:latin typeface="Arial"/>
                          <a:cs typeface="Arial"/>
                        </a:rPr>
                        <a:t>Student</a:t>
                      </a:r>
                      <a:r>
                        <a:rPr sz="1800" spc="-65" dirty="0">
                          <a:latin typeface="Arial"/>
                          <a:cs typeface="Arial"/>
                        </a:rPr>
                        <a:t> </a:t>
                      </a:r>
                      <a:r>
                        <a:rPr sz="1800" spc="-20" dirty="0">
                          <a:latin typeface="Arial"/>
                          <a:cs typeface="Arial"/>
                        </a:rPr>
                        <a:t>Name</a:t>
                      </a:r>
                      <a:endParaRPr sz="1800" dirty="0">
                        <a:latin typeface="Arial"/>
                        <a:cs typeface="Arial"/>
                      </a:endParaRPr>
                    </a:p>
                  </a:txBody>
                  <a:tcPr marL="0" marR="0" marT="812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4"/>
                    </a:solidFill>
                  </a:tcPr>
                </a:tc>
                <a:tc>
                  <a:txBody>
                    <a:bodyPr/>
                    <a:lstStyle/>
                    <a:p>
                      <a:pPr marL="926465" marR="363855" indent="-546735">
                        <a:lnSpc>
                          <a:spcPct val="100800"/>
                        </a:lnSpc>
                        <a:spcBef>
                          <a:spcPts val="1610"/>
                        </a:spcBef>
                      </a:pPr>
                      <a:r>
                        <a:rPr sz="1800" dirty="0">
                          <a:latin typeface="Arial"/>
                          <a:cs typeface="Arial"/>
                        </a:rPr>
                        <a:t>Recent</a:t>
                      </a:r>
                      <a:r>
                        <a:rPr sz="1800" spc="-10" dirty="0">
                          <a:latin typeface="Arial"/>
                          <a:cs typeface="Arial"/>
                        </a:rPr>
                        <a:t> Passport </a:t>
                      </a:r>
                      <a:r>
                        <a:rPr sz="1800" spc="-20" dirty="0" smtClean="0">
                          <a:latin typeface="Arial"/>
                          <a:cs typeface="Arial"/>
                        </a:rPr>
                        <a:t>Ph</a:t>
                      </a:r>
                      <a:r>
                        <a:rPr lang="en-US" sz="1800" spc="-20" dirty="0" smtClean="0">
                          <a:latin typeface="Arial"/>
                          <a:cs typeface="Arial"/>
                        </a:rPr>
                        <a:t>oto</a:t>
                      </a:r>
                      <a:endParaRPr sz="1800" dirty="0">
                        <a:latin typeface="Arial"/>
                        <a:cs typeface="Arial"/>
                      </a:endParaRPr>
                    </a:p>
                  </a:txBody>
                  <a:tcPr marL="0" marR="0" marT="20447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4"/>
                    </a:solidFill>
                  </a:tcPr>
                </a:tc>
                <a:tc>
                  <a:txBody>
                    <a:bodyPr/>
                    <a:lstStyle/>
                    <a:p>
                      <a:pPr>
                        <a:lnSpc>
                          <a:spcPct val="100000"/>
                        </a:lnSpc>
                        <a:spcBef>
                          <a:spcPts val="640"/>
                        </a:spcBef>
                      </a:pPr>
                      <a:endParaRPr sz="1800" dirty="0">
                        <a:latin typeface="Times New Roman"/>
                        <a:cs typeface="Times New Roman"/>
                      </a:endParaRPr>
                    </a:p>
                    <a:p>
                      <a:pPr marL="795020">
                        <a:lnSpc>
                          <a:spcPct val="100000"/>
                        </a:lnSpc>
                      </a:pPr>
                      <a:r>
                        <a:rPr sz="1800" dirty="0">
                          <a:latin typeface="Arial"/>
                          <a:cs typeface="Arial"/>
                        </a:rPr>
                        <a:t>Email </a:t>
                      </a:r>
                      <a:r>
                        <a:rPr sz="1800" spc="-25" dirty="0">
                          <a:latin typeface="Arial"/>
                          <a:cs typeface="Arial"/>
                        </a:rPr>
                        <a:t>ID</a:t>
                      </a:r>
                      <a:endParaRPr sz="1800" dirty="0">
                        <a:latin typeface="Arial"/>
                        <a:cs typeface="Arial"/>
                      </a:endParaRPr>
                    </a:p>
                  </a:txBody>
                  <a:tcPr marL="0" marR="0" marT="812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4"/>
                    </a:solidFill>
                  </a:tcPr>
                </a:tc>
                <a:tc>
                  <a:txBody>
                    <a:bodyPr/>
                    <a:lstStyle/>
                    <a:p>
                      <a:pPr marL="637540" marR="448945" indent="-165100">
                        <a:lnSpc>
                          <a:spcPct val="100800"/>
                        </a:lnSpc>
                        <a:spcBef>
                          <a:spcPts val="1610"/>
                        </a:spcBef>
                      </a:pPr>
                      <a:r>
                        <a:rPr sz="1800" dirty="0" smtClean="0">
                          <a:latin typeface="Arial"/>
                          <a:cs typeface="Arial"/>
                        </a:rPr>
                        <a:t>Mobile</a:t>
                      </a:r>
                      <a:r>
                        <a:rPr sz="1800" spc="-55" dirty="0" smtClean="0">
                          <a:latin typeface="Arial"/>
                          <a:cs typeface="Arial"/>
                        </a:rPr>
                        <a:t> </a:t>
                      </a:r>
                      <a:r>
                        <a:rPr lang="en-US" sz="1800" spc="-55" dirty="0" smtClean="0">
                          <a:latin typeface="Arial"/>
                          <a:cs typeface="Arial"/>
                        </a:rPr>
                        <a:t>  </a:t>
                      </a:r>
                      <a:r>
                        <a:rPr sz="1800" spc="-10" dirty="0" smtClean="0">
                          <a:latin typeface="Arial"/>
                          <a:cs typeface="Arial"/>
                        </a:rPr>
                        <a:t>number</a:t>
                      </a:r>
                      <a:endParaRPr sz="1800" dirty="0">
                        <a:latin typeface="Arial"/>
                        <a:cs typeface="Arial"/>
                      </a:endParaRPr>
                    </a:p>
                  </a:txBody>
                  <a:tcPr marL="0" marR="0" marT="20447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4"/>
                    </a:solidFill>
                  </a:tcPr>
                </a:tc>
              </a:tr>
              <a:tr h="1427522">
                <a:tc>
                  <a:txBody>
                    <a:bodyPr/>
                    <a:lstStyle/>
                    <a:p>
                      <a:pPr>
                        <a:lnSpc>
                          <a:spcPct val="100000"/>
                        </a:lnSpc>
                      </a:pPr>
                      <a:r>
                        <a:rPr lang="en-US" sz="2100" dirty="0" smtClean="0">
                          <a:latin typeface="Times New Roman"/>
                          <a:cs typeface="Times New Roman"/>
                        </a:rPr>
                        <a:t> </a:t>
                      </a:r>
                      <a:r>
                        <a:rPr lang="en-US" sz="2000" dirty="0" err="1" smtClean="0">
                          <a:latin typeface="Arial" panose="020B0604020202020204" pitchFamily="34" charset="0"/>
                          <a:cs typeface="Arial" panose="020B0604020202020204" pitchFamily="34" charset="0"/>
                        </a:rPr>
                        <a:t>Tammana</a:t>
                      </a:r>
                      <a:r>
                        <a:rPr lang="en-US" sz="2000" dirty="0" smtClean="0">
                          <a:latin typeface="Arial" panose="020B0604020202020204" pitchFamily="34" charset="0"/>
                          <a:cs typeface="Arial" panose="020B0604020202020204" pitchFamily="34" charset="0"/>
                        </a:rPr>
                        <a:t>      </a:t>
                      </a:r>
                      <a:r>
                        <a:rPr lang="en-US" sz="2000" baseline="0" dirty="0" smtClean="0">
                          <a:latin typeface="Arial" panose="020B0604020202020204" pitchFamily="34" charset="0"/>
                          <a:cs typeface="Arial" panose="020B0604020202020204" pitchFamily="34" charset="0"/>
                        </a:rPr>
                        <a:t>     </a:t>
                      </a:r>
                      <a:r>
                        <a:rPr lang="en-US" sz="2000" baseline="0" dirty="0" err="1" smtClean="0">
                          <a:latin typeface="Arial" panose="020B0604020202020204" pitchFamily="34" charset="0"/>
                          <a:cs typeface="Arial" panose="020B0604020202020204" pitchFamily="34" charset="0"/>
                        </a:rPr>
                        <a:t>K</a:t>
                      </a:r>
                      <a:r>
                        <a:rPr lang="en-US" sz="2000" dirty="0" err="1" smtClean="0">
                          <a:latin typeface="Arial" panose="020B0604020202020204" pitchFamily="34" charset="0"/>
                          <a:cs typeface="Arial" panose="020B0604020202020204" pitchFamily="34" charset="0"/>
                        </a:rPr>
                        <a:t>ameswari</a:t>
                      </a:r>
                      <a:r>
                        <a:rPr lang="en-US" sz="2000" dirty="0" smtClean="0">
                          <a:latin typeface="Arial" panose="020B0604020202020204" pitchFamily="34" charset="0"/>
                          <a:cs typeface="Arial" panose="020B0604020202020204" pitchFamily="34" charset="0"/>
                        </a:rPr>
                        <a:t> </a:t>
                      </a:r>
                      <a:r>
                        <a:rPr lang="en-US" sz="2000" dirty="0" err="1" smtClean="0">
                          <a:latin typeface="Arial" panose="020B0604020202020204" pitchFamily="34" charset="0"/>
                          <a:cs typeface="Arial" panose="020B0604020202020204" pitchFamily="34" charset="0"/>
                        </a:rPr>
                        <a:t>Amulya</a:t>
                      </a:r>
                      <a:endParaRPr sz="2000" dirty="0">
                        <a:latin typeface="Arial" panose="020B0604020202020204" pitchFamily="34" charset="0"/>
                        <a:cs typeface="Arial" panose="020B0604020202020204" pitchFamily="34" charset="0"/>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EEE"/>
                    </a:solidFill>
                  </a:tcPr>
                </a:tc>
                <a:tc>
                  <a:txBody>
                    <a:bodyPr/>
                    <a:lstStyle/>
                    <a:p>
                      <a:pPr>
                        <a:lnSpc>
                          <a:spcPct val="100000"/>
                        </a:lnSpc>
                      </a:pPr>
                      <a:endParaRPr sz="21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EEE"/>
                    </a:solidFill>
                  </a:tcPr>
                </a:tc>
                <a:tc>
                  <a:txBody>
                    <a:bodyPr/>
                    <a:lstStyle/>
                    <a:p>
                      <a:pPr>
                        <a:lnSpc>
                          <a:spcPct val="100000"/>
                        </a:lnSpc>
                      </a:pPr>
                      <a:r>
                        <a:rPr lang="en-US" sz="2100" dirty="0" smtClean="0">
                          <a:latin typeface="Times New Roman"/>
                          <a:cs typeface="Times New Roman"/>
                        </a:rPr>
                        <a:t>    </a:t>
                      </a:r>
                      <a:r>
                        <a:rPr lang="en-US" sz="2000" dirty="0" smtClean="0">
                          <a:latin typeface="Arial" panose="020B0604020202020204" pitchFamily="34" charset="0"/>
                          <a:cs typeface="Arial" panose="020B0604020202020204" pitchFamily="34" charset="0"/>
                        </a:rPr>
                        <a:t>2420030434@klh.edu.in</a:t>
                      </a: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EEE"/>
                    </a:solidFill>
                  </a:tcPr>
                </a:tc>
                <a:tc>
                  <a:txBody>
                    <a:bodyPr/>
                    <a:lstStyle/>
                    <a:p>
                      <a:pPr>
                        <a:lnSpc>
                          <a:spcPct val="100000"/>
                        </a:lnSpc>
                      </a:pPr>
                      <a:r>
                        <a:rPr lang="en-US" sz="2100" dirty="0" smtClean="0">
                          <a:latin typeface="Times New Roman"/>
                          <a:cs typeface="Times New Roman"/>
                        </a:rPr>
                        <a:t>  </a:t>
                      </a:r>
                      <a:r>
                        <a:rPr lang="en-US" sz="2000" dirty="0" smtClean="0">
                          <a:latin typeface="Arial" panose="020B0604020202020204" pitchFamily="34" charset="0"/>
                          <a:cs typeface="Arial" panose="020B0604020202020204" pitchFamily="34" charset="0"/>
                        </a:rPr>
                        <a:t>9581581982</a:t>
                      </a:r>
                      <a:endParaRPr sz="2000" dirty="0">
                        <a:latin typeface="Arial" panose="020B0604020202020204" pitchFamily="34" charset="0"/>
                        <a:cs typeface="Arial" panose="020B0604020202020204" pitchFamily="34" charset="0"/>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EEE"/>
                    </a:solidFill>
                  </a:tcPr>
                </a:tc>
              </a:tr>
            </a:tbl>
          </a:graphicData>
        </a:graphic>
      </p:graphicFrame>
      <p:sp>
        <p:nvSpPr>
          <p:cNvPr id="4" name="object 4"/>
          <p:cNvSpPr txBox="1"/>
          <p:nvPr/>
        </p:nvSpPr>
        <p:spPr>
          <a:xfrm>
            <a:off x="1285875" y="1486598"/>
            <a:ext cx="2972435" cy="391795"/>
          </a:xfrm>
          <a:prstGeom prst="rect">
            <a:avLst/>
          </a:prstGeom>
        </p:spPr>
        <p:txBody>
          <a:bodyPr vert="horz" wrap="square" lIns="0" tIns="12700" rIns="0" bIns="0" rtlCol="0">
            <a:spAutoFit/>
          </a:bodyPr>
          <a:lstStyle/>
          <a:p>
            <a:pPr marL="12700">
              <a:lnSpc>
                <a:spcPct val="100000"/>
              </a:lnSpc>
              <a:spcBef>
                <a:spcPts val="100"/>
              </a:spcBef>
              <a:tabLst>
                <a:tab pos="1670050" algn="l"/>
              </a:tabLst>
            </a:pPr>
            <a:r>
              <a:rPr sz="2400" b="1" dirty="0">
                <a:latin typeface="Arial"/>
                <a:cs typeface="Arial"/>
              </a:rPr>
              <a:t>Domain</a:t>
            </a:r>
            <a:r>
              <a:rPr sz="2400" b="1" spc="-75" dirty="0">
                <a:latin typeface="Arial"/>
                <a:cs typeface="Arial"/>
              </a:rPr>
              <a:t> </a:t>
            </a:r>
            <a:r>
              <a:rPr sz="2400" b="1" spc="-25" dirty="0">
                <a:latin typeface="Arial"/>
                <a:cs typeface="Arial"/>
              </a:rPr>
              <a:t>of</a:t>
            </a:r>
            <a:r>
              <a:rPr sz="2400" b="1" dirty="0">
                <a:latin typeface="Arial"/>
                <a:cs typeface="Arial"/>
              </a:rPr>
              <a:t>	Project</a:t>
            </a:r>
            <a:r>
              <a:rPr sz="2400" b="1" spc="-45" dirty="0">
                <a:latin typeface="Arial"/>
                <a:cs typeface="Arial"/>
              </a:rPr>
              <a:t> </a:t>
            </a:r>
            <a:r>
              <a:rPr sz="2400" b="1" spc="-50" dirty="0">
                <a:latin typeface="Arial"/>
                <a:cs typeface="Arial"/>
              </a:rPr>
              <a:t>–</a:t>
            </a:r>
            <a:endParaRPr sz="2400">
              <a:latin typeface="Arial"/>
              <a:cs typeface="Arial"/>
            </a:endParaRPr>
          </a:p>
        </p:txBody>
      </p:sp>
      <p:sp>
        <p:nvSpPr>
          <p:cNvPr id="5" name="object 5"/>
          <p:cNvSpPr txBox="1"/>
          <p:nvPr/>
        </p:nvSpPr>
        <p:spPr>
          <a:xfrm>
            <a:off x="4326509" y="1535049"/>
            <a:ext cx="6696075" cy="333375"/>
          </a:xfrm>
          <a:prstGeom prst="rect">
            <a:avLst/>
          </a:prstGeom>
          <a:solidFill>
            <a:srgbClr val="FFFF00"/>
          </a:solidFill>
        </p:spPr>
        <p:txBody>
          <a:bodyPr vert="horz" wrap="square" lIns="0" tIns="0" rIns="0" bIns="0" rtlCol="0">
            <a:spAutoFit/>
          </a:bodyPr>
          <a:lstStyle/>
          <a:p>
            <a:pPr marL="3175">
              <a:lnSpc>
                <a:spcPts val="2600"/>
              </a:lnSpc>
            </a:pPr>
            <a:r>
              <a:rPr sz="2400" b="1" dirty="0">
                <a:latin typeface="Arial"/>
                <a:cs typeface="Arial"/>
              </a:rPr>
              <a:t>[</a:t>
            </a:r>
            <a:r>
              <a:rPr sz="2400" b="1" spc="-10" dirty="0">
                <a:latin typeface="Arial"/>
                <a:cs typeface="Arial"/>
              </a:rPr>
              <a:t> </a:t>
            </a:r>
            <a:r>
              <a:rPr lang="en-US" sz="2400" b="1" dirty="0" smtClean="0">
                <a:latin typeface="Arial"/>
                <a:cs typeface="Arial"/>
              </a:rPr>
              <a:t>Education | </a:t>
            </a:r>
            <a:r>
              <a:rPr lang="en-US" sz="2400" b="1" dirty="0" err="1" smtClean="0">
                <a:latin typeface="Arial"/>
                <a:cs typeface="Arial"/>
              </a:rPr>
              <a:t>Agentic</a:t>
            </a:r>
            <a:r>
              <a:rPr lang="en-US" sz="2400" b="1" dirty="0" smtClean="0">
                <a:latin typeface="Arial"/>
                <a:cs typeface="Arial"/>
              </a:rPr>
              <a:t> AI </a:t>
            </a:r>
            <a:r>
              <a:rPr sz="2400" b="1" spc="-50" dirty="0" smtClean="0">
                <a:latin typeface="Arial"/>
                <a:cs typeface="Arial"/>
              </a:rPr>
              <a:t>]</a:t>
            </a:r>
            <a:endParaRPr sz="2400" dirty="0">
              <a:latin typeface="Arial"/>
              <a:cs typeface="Arial"/>
            </a:endParaRPr>
          </a:p>
        </p:txBody>
      </p:sp>
      <p:sp>
        <p:nvSpPr>
          <p:cNvPr id="6" name="object 6" descr="$PPTXTitle"/>
          <p:cNvSpPr txBox="1">
            <a:spLocks noGrp="1"/>
          </p:cNvSpPr>
          <p:nvPr>
            <p:ph type="title"/>
          </p:nvPr>
        </p:nvSpPr>
        <p:spPr>
          <a:xfrm>
            <a:off x="1285875" y="575944"/>
            <a:ext cx="1922780" cy="392430"/>
          </a:xfrm>
          <a:prstGeom prst="rect">
            <a:avLst/>
          </a:prstGeom>
        </p:spPr>
        <p:txBody>
          <a:bodyPr vert="horz" wrap="square" lIns="0" tIns="13335" rIns="0" bIns="0" rtlCol="0">
            <a:spAutoFit/>
          </a:bodyPr>
          <a:lstStyle/>
          <a:p>
            <a:pPr marL="12700">
              <a:lnSpc>
                <a:spcPct val="100000"/>
              </a:lnSpc>
              <a:spcBef>
                <a:spcPts val="105"/>
              </a:spcBef>
            </a:pPr>
            <a:r>
              <a:rPr dirty="0"/>
              <a:t>Project</a:t>
            </a:r>
            <a:r>
              <a:rPr spc="-45" dirty="0"/>
              <a:t> </a:t>
            </a:r>
            <a:r>
              <a:rPr dirty="0"/>
              <a:t>Tile</a:t>
            </a:r>
            <a:r>
              <a:rPr spc="-25" dirty="0"/>
              <a:t> </a:t>
            </a:r>
            <a:r>
              <a:rPr spc="-50" dirty="0"/>
              <a:t>–</a:t>
            </a:r>
          </a:p>
        </p:txBody>
      </p:sp>
      <p:sp>
        <p:nvSpPr>
          <p:cNvPr id="7" name="object 7"/>
          <p:cNvSpPr txBox="1"/>
          <p:nvPr/>
        </p:nvSpPr>
        <p:spPr>
          <a:xfrm>
            <a:off x="3277234" y="626237"/>
            <a:ext cx="3902075" cy="342900"/>
          </a:xfrm>
          <a:prstGeom prst="rect">
            <a:avLst/>
          </a:prstGeom>
          <a:solidFill>
            <a:srgbClr val="FFFF00"/>
          </a:solidFill>
        </p:spPr>
        <p:txBody>
          <a:bodyPr vert="horz" wrap="square" lIns="0" tIns="0" rIns="0" bIns="0" rtlCol="0">
            <a:spAutoFit/>
          </a:bodyPr>
          <a:lstStyle/>
          <a:p>
            <a:pPr marL="1905">
              <a:lnSpc>
                <a:spcPts val="2590"/>
              </a:lnSpc>
            </a:pPr>
            <a:r>
              <a:rPr lang="en-US" sz="2400" b="1" dirty="0" smtClean="0">
                <a:latin typeface="Arial"/>
                <a:cs typeface="Arial"/>
              </a:rPr>
              <a:t>[College Admission Agent</a:t>
            </a:r>
            <a:r>
              <a:rPr sz="2400" b="1" spc="-10" dirty="0" smtClean="0">
                <a:latin typeface="Arial"/>
                <a:cs typeface="Arial"/>
              </a:rPr>
              <a:t>]</a:t>
            </a:r>
            <a:endParaRPr sz="2400" dirty="0">
              <a:latin typeface="Arial"/>
              <a:cs typeface="Arial"/>
            </a:endParaRPr>
          </a:p>
        </p:txBody>
      </p:sp>
      <p:pic>
        <p:nvPicPr>
          <p:cNvPr id="9" name="Picture 8"/>
          <p:cNvPicPr>
            <a:picLocks noChangeAspect="1"/>
          </p:cNvPicPr>
          <p:nvPr/>
        </p:nvPicPr>
        <p:blipFill>
          <a:blip r:embed="rId2"/>
          <a:stretch>
            <a:fillRect/>
          </a:stretch>
        </p:blipFill>
        <p:spPr>
          <a:xfrm>
            <a:off x="3886200" y="4419600"/>
            <a:ext cx="1295400" cy="14478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55319" y="1259522"/>
            <a:ext cx="10168255" cy="5507277"/>
          </a:xfrm>
          <a:prstGeom prst="rect">
            <a:avLst/>
          </a:prstGeom>
        </p:spPr>
        <p:txBody>
          <a:bodyPr vert="horz" wrap="square" lIns="0" tIns="15875" rIns="0" bIns="0" rtlCol="0">
            <a:spAutoFit/>
          </a:bodyPr>
          <a:lstStyle/>
          <a:p>
            <a:pPr marL="12700">
              <a:lnSpc>
                <a:spcPct val="100000"/>
              </a:lnSpc>
              <a:spcBef>
                <a:spcPts val="125"/>
              </a:spcBef>
            </a:pPr>
            <a:r>
              <a:rPr lang="en-US" sz="1400" b="1" dirty="0" smtClean="0">
                <a:latin typeface="Arial"/>
                <a:cs typeface="Arial"/>
              </a:rPr>
              <a:t>Problem Statement : College Admission Agent</a:t>
            </a:r>
            <a:endParaRPr lang="en-US" sz="1400" dirty="0" smtClean="0">
              <a:latin typeface="Arial"/>
              <a:cs typeface="Arial"/>
            </a:endParaRPr>
          </a:p>
          <a:p>
            <a:pPr>
              <a:lnSpc>
                <a:spcPct val="100000"/>
              </a:lnSpc>
              <a:spcBef>
                <a:spcPts val="90"/>
              </a:spcBef>
            </a:pPr>
            <a:endParaRPr lang="en-US" sz="1400" dirty="0" smtClean="0">
              <a:latin typeface="Arial"/>
              <a:cs typeface="Arial"/>
            </a:endParaRPr>
          </a:p>
          <a:p>
            <a:pPr marL="12700">
              <a:lnSpc>
                <a:spcPts val="1664"/>
              </a:lnSpc>
            </a:pPr>
            <a:r>
              <a:rPr lang="en-US" sz="1400" b="1" dirty="0" smtClean="0">
                <a:latin typeface="Arial"/>
                <a:cs typeface="Arial"/>
              </a:rPr>
              <a:t>The Challenge</a:t>
            </a:r>
            <a:endParaRPr lang="en-US" sz="1400" dirty="0" smtClean="0">
              <a:latin typeface="Arial"/>
              <a:cs typeface="Arial"/>
            </a:endParaRPr>
          </a:p>
          <a:p>
            <a:pPr marL="12700">
              <a:lnSpc>
                <a:spcPts val="1664"/>
              </a:lnSpc>
            </a:pPr>
            <a:r>
              <a:rPr lang="en-US" sz="1400" dirty="0" smtClean="0">
                <a:latin typeface="Arial"/>
                <a:cs typeface="Arial"/>
              </a:rPr>
              <a:t>Every admission cycle, thousands of prospective students struggle to get clear, timely answers about</a:t>
            </a:r>
          </a:p>
          <a:p>
            <a:pPr marL="12700" marR="5080">
              <a:lnSpc>
                <a:spcPts val="1650"/>
              </a:lnSpc>
              <a:spcBef>
                <a:spcPts val="130"/>
              </a:spcBef>
            </a:pPr>
            <a:r>
              <a:rPr lang="en-US" sz="1400" b="1" dirty="0" smtClean="0">
                <a:latin typeface="Arial"/>
                <a:cs typeface="Arial"/>
              </a:rPr>
              <a:t>eligibility, courses, fees, scholarships, hostel life and the admission process — information that is often scattered across outdated PDFs, crowded helplines and inconsistent counselor advice.</a:t>
            </a:r>
            <a:endParaRPr lang="en-US" sz="1400" dirty="0" smtClean="0">
              <a:latin typeface="Arial"/>
              <a:cs typeface="Arial"/>
            </a:endParaRPr>
          </a:p>
          <a:p>
            <a:pPr>
              <a:lnSpc>
                <a:spcPct val="100000"/>
              </a:lnSpc>
              <a:spcBef>
                <a:spcPts val="40"/>
              </a:spcBef>
            </a:pPr>
            <a:endParaRPr lang="en-US" sz="1400" dirty="0" smtClean="0">
              <a:latin typeface="Arial"/>
              <a:cs typeface="Arial"/>
            </a:endParaRPr>
          </a:p>
          <a:p>
            <a:pPr marL="12700">
              <a:lnSpc>
                <a:spcPts val="1664"/>
              </a:lnSpc>
            </a:pPr>
            <a:r>
              <a:rPr lang="en-US" sz="1400" b="1" dirty="0" smtClean="0">
                <a:latin typeface="Arial"/>
                <a:cs typeface="Arial"/>
              </a:rPr>
              <a:t>The Objective</a:t>
            </a:r>
            <a:endParaRPr lang="en-US" sz="1400" dirty="0" smtClean="0">
              <a:latin typeface="Arial"/>
              <a:cs typeface="Arial"/>
            </a:endParaRPr>
          </a:p>
          <a:p>
            <a:pPr marL="12700" marR="238760">
              <a:lnSpc>
                <a:spcPts val="1730"/>
              </a:lnSpc>
              <a:spcBef>
                <a:spcPts val="5"/>
              </a:spcBef>
            </a:pPr>
            <a:r>
              <a:rPr lang="en-US" sz="1400" dirty="0" smtClean="0">
                <a:latin typeface="Arial"/>
                <a:cs typeface="Arial"/>
              </a:rPr>
              <a:t>Build an AI-powered College Admission Agent that gives every student instant, accurate, 24/7 guidance on their admission journey. The solution should:</a:t>
            </a:r>
          </a:p>
          <a:p>
            <a:pPr marL="298450" indent="-285750">
              <a:lnSpc>
                <a:spcPts val="1585"/>
              </a:lnSpc>
              <a:buFont typeface="Arial"/>
              <a:buChar char="•"/>
              <a:tabLst>
                <a:tab pos="298450" algn="l"/>
              </a:tabLst>
            </a:pPr>
            <a:r>
              <a:rPr lang="en-US" sz="1400" b="1" dirty="0" smtClean="0">
                <a:latin typeface="Arial"/>
                <a:cs typeface="Arial"/>
              </a:rPr>
              <a:t>Instant Eligibility &amp; Course Guidance – Answer questions on eligibility, course structure, duration and</a:t>
            </a:r>
            <a:endParaRPr lang="en-US" sz="1400" dirty="0" smtClean="0">
              <a:latin typeface="Arial"/>
              <a:cs typeface="Arial"/>
            </a:endParaRPr>
          </a:p>
          <a:p>
            <a:pPr marL="298450">
              <a:lnSpc>
                <a:spcPts val="1664"/>
              </a:lnSpc>
              <a:spcBef>
                <a:spcPts val="45"/>
              </a:spcBef>
            </a:pPr>
            <a:r>
              <a:rPr lang="en-US" sz="1400" spc="-10" dirty="0" smtClean="0">
                <a:latin typeface="Arial"/>
                <a:cs typeface="Arial"/>
              </a:rPr>
              <a:t>seats using real admission data.</a:t>
            </a:r>
            <a:endParaRPr lang="en-US" sz="1400" dirty="0" smtClean="0">
              <a:latin typeface="Arial"/>
              <a:cs typeface="Arial"/>
            </a:endParaRPr>
          </a:p>
          <a:p>
            <a:pPr marL="298450" indent="-285750">
              <a:lnSpc>
                <a:spcPts val="1650"/>
              </a:lnSpc>
              <a:buFont typeface="Arial"/>
              <a:buChar char="•"/>
              <a:tabLst>
                <a:tab pos="298450" algn="l"/>
              </a:tabLst>
            </a:pPr>
            <a:r>
              <a:rPr lang="en-US" sz="1400" b="1" dirty="0" smtClean="0">
                <a:latin typeface="Arial"/>
                <a:cs typeface="Arial"/>
              </a:rPr>
              <a:t>Transparent Fee &amp; Scholarship Info – Provide itemized fee breakdowns and match students to scholarships they may qualify for.</a:t>
            </a:r>
            <a:endParaRPr lang="en-US" sz="1400" dirty="0" smtClean="0">
              <a:latin typeface="Arial"/>
              <a:cs typeface="Arial"/>
            </a:endParaRPr>
          </a:p>
          <a:p>
            <a:pPr marL="298450" indent="-285750">
              <a:lnSpc>
                <a:spcPts val="1664"/>
              </a:lnSpc>
              <a:buFont typeface="Arial"/>
              <a:buChar char="•"/>
              <a:tabLst>
                <a:tab pos="298450" algn="l"/>
              </a:tabLst>
            </a:pPr>
            <a:r>
              <a:rPr lang="en-US" sz="1400" b="1" dirty="0" smtClean="0">
                <a:latin typeface="Arial"/>
                <a:cs typeface="Arial"/>
              </a:rPr>
              <a:t>Document Upload &amp; Review – Let students upload admission documents (</a:t>
            </a:r>
            <a:r>
              <a:rPr lang="en-US" sz="1400" b="1" dirty="0" err="1" smtClean="0">
                <a:latin typeface="Arial"/>
                <a:cs typeface="Arial"/>
              </a:rPr>
              <a:t>marksheets</a:t>
            </a:r>
            <a:r>
              <a:rPr lang="en-US" sz="1400" b="1" dirty="0" smtClean="0">
                <a:latin typeface="Arial"/>
                <a:cs typeface="Arial"/>
              </a:rPr>
              <a:t>, certificates) for AI-assisted verification.</a:t>
            </a:r>
            <a:endParaRPr lang="en-US" sz="1400" dirty="0" smtClean="0">
              <a:latin typeface="Arial"/>
              <a:cs typeface="Arial"/>
            </a:endParaRPr>
          </a:p>
          <a:p>
            <a:pPr marL="298450" indent="-285750">
              <a:lnSpc>
                <a:spcPts val="1664"/>
              </a:lnSpc>
              <a:spcBef>
                <a:spcPts val="50"/>
              </a:spcBef>
              <a:buFont typeface="Arial"/>
              <a:buChar char="•"/>
              <a:tabLst>
                <a:tab pos="298450" algn="l"/>
              </a:tabLst>
            </a:pPr>
            <a:r>
              <a:rPr lang="en-US" sz="1400" b="1" dirty="0" smtClean="0">
                <a:latin typeface="Arial"/>
                <a:cs typeface="Arial"/>
              </a:rPr>
              <a:t>Guided Application Submission – Let students apply directly for a course or scholarship and receive a </a:t>
            </a:r>
            <a:r>
              <a:rPr lang="en-US" sz="1400" b="1" dirty="0" err="1" smtClean="0">
                <a:latin typeface="Arial"/>
                <a:cs typeface="Arial"/>
              </a:rPr>
              <a:t>trackable</a:t>
            </a:r>
            <a:r>
              <a:rPr lang="en-US" sz="1400" b="1" dirty="0" smtClean="0">
                <a:latin typeface="Arial"/>
                <a:cs typeface="Arial"/>
              </a:rPr>
              <a:t> reference number.</a:t>
            </a:r>
            <a:endParaRPr lang="en-US" sz="1400" dirty="0" smtClean="0">
              <a:latin typeface="Arial"/>
              <a:cs typeface="Arial"/>
            </a:endParaRPr>
          </a:p>
          <a:p>
            <a:pPr marL="298450" indent="-285750">
              <a:lnSpc>
                <a:spcPts val="1664"/>
              </a:lnSpc>
              <a:buFont typeface="Arial"/>
              <a:buChar char="•"/>
              <a:tabLst>
                <a:tab pos="298450" algn="l"/>
              </a:tabLst>
            </a:pPr>
            <a:r>
              <a:rPr lang="en-US" sz="1400" b="1" spc="-10" dirty="0" smtClean="0">
                <a:latin typeface="Arial"/>
                <a:cs typeface="Arial"/>
              </a:rPr>
              <a:t>Multi-Agent System –</a:t>
            </a:r>
            <a:endParaRPr lang="en-US" sz="1400" dirty="0" smtClean="0">
              <a:latin typeface="Arial"/>
              <a:cs typeface="Arial"/>
            </a:endParaRPr>
          </a:p>
          <a:p>
            <a:pPr marL="298450" indent="-285750">
              <a:lnSpc>
                <a:spcPts val="1664"/>
              </a:lnSpc>
              <a:spcBef>
                <a:spcPts val="45"/>
              </a:spcBef>
              <a:buFont typeface="Arial"/>
              <a:buChar char="•"/>
              <a:tabLst>
                <a:tab pos="298450" algn="l"/>
              </a:tabLst>
            </a:pPr>
            <a:r>
              <a:rPr lang="en-US" sz="1400" b="1" dirty="0" smtClean="0">
                <a:latin typeface="Arial"/>
                <a:cs typeface="Arial"/>
              </a:rPr>
              <a:t>Admission Knowledge Agent (answers eligibility, hostel, placement and process questions)</a:t>
            </a:r>
            <a:endParaRPr lang="en-US" sz="1400" dirty="0" smtClean="0">
              <a:latin typeface="Arial"/>
              <a:cs typeface="Arial"/>
            </a:endParaRPr>
          </a:p>
          <a:p>
            <a:pPr marL="298450" indent="-285750">
              <a:lnSpc>
                <a:spcPts val="1655"/>
              </a:lnSpc>
              <a:buFont typeface="Arial"/>
              <a:buChar char="•"/>
              <a:tabLst>
                <a:tab pos="298450" algn="l"/>
              </a:tabLst>
            </a:pPr>
            <a:r>
              <a:rPr lang="en-US" sz="1400" b="1" dirty="0" smtClean="0">
                <a:latin typeface="Arial"/>
                <a:cs typeface="Arial"/>
              </a:rPr>
              <a:t>Course &amp; Scholarship Recommendation Agent (matches students to relevant programs and awards)</a:t>
            </a:r>
            <a:endParaRPr lang="en-US" sz="1400" dirty="0" smtClean="0">
              <a:latin typeface="Arial"/>
              <a:cs typeface="Arial"/>
            </a:endParaRPr>
          </a:p>
          <a:p>
            <a:pPr marL="298450" indent="-285750">
              <a:lnSpc>
                <a:spcPts val="1664"/>
              </a:lnSpc>
              <a:buFont typeface="Arial"/>
              <a:buChar char="•"/>
              <a:tabLst>
                <a:tab pos="298450" algn="l"/>
              </a:tabLst>
            </a:pPr>
            <a:r>
              <a:rPr lang="en-US" sz="1400" b="1" dirty="0" smtClean="0">
                <a:latin typeface="Arial"/>
                <a:cs typeface="Arial"/>
              </a:rPr>
              <a:t>Document Verification Agent (reviews uploaded admission documents via a RAG pipeline)</a:t>
            </a:r>
            <a:endParaRPr lang="en-US" sz="1400" dirty="0" smtClean="0">
              <a:latin typeface="Arial"/>
              <a:cs typeface="Arial"/>
            </a:endParaRPr>
          </a:p>
          <a:p>
            <a:pPr marL="298450" indent="-285750">
              <a:lnSpc>
                <a:spcPts val="1664"/>
              </a:lnSpc>
              <a:spcBef>
                <a:spcPts val="50"/>
              </a:spcBef>
              <a:buFont typeface="Arial"/>
              <a:buChar char="•"/>
              <a:tabLst>
                <a:tab pos="298450" algn="l"/>
              </a:tabLst>
            </a:pPr>
            <a:r>
              <a:rPr lang="en-US" sz="1400" b="1" dirty="0" smtClean="0">
                <a:latin typeface="Arial"/>
                <a:cs typeface="Arial"/>
              </a:rPr>
              <a:t>Application Agent (captures and confirms course/scholarship applications)</a:t>
            </a:r>
            <a:endParaRPr lang="en-US" sz="1400" dirty="0" smtClean="0">
              <a:latin typeface="Arial"/>
              <a:cs typeface="Arial"/>
            </a:endParaRPr>
          </a:p>
          <a:p>
            <a:pPr marL="298450" indent="-285750">
              <a:lnSpc>
                <a:spcPts val="1664"/>
              </a:lnSpc>
              <a:buFont typeface="Arial"/>
              <a:buChar char="•"/>
              <a:tabLst>
                <a:tab pos="298450" algn="l"/>
              </a:tabLst>
            </a:pPr>
            <a:r>
              <a:rPr lang="en-US" sz="1400" b="1" dirty="0" smtClean="0">
                <a:latin typeface="Arial"/>
                <a:cs typeface="Arial"/>
              </a:rPr>
              <a:t>Admin Dashboard (future scope) – Track submitted applications and admission funnel in real time.</a:t>
            </a:r>
            <a:endParaRPr lang="en-US" sz="1400" dirty="0" smtClean="0">
              <a:latin typeface="Arial"/>
              <a:cs typeface="Arial"/>
            </a:endParaRPr>
          </a:p>
          <a:p>
            <a:pPr marL="12700">
              <a:lnSpc>
                <a:spcPct val="100000"/>
              </a:lnSpc>
              <a:spcBef>
                <a:spcPts val="125"/>
              </a:spcBef>
            </a:pPr>
            <a:endParaRPr sz="1400" dirty="0">
              <a:latin typeface="Arial"/>
              <a:cs typeface="Arial"/>
            </a:endParaRPr>
          </a:p>
        </p:txBody>
      </p:sp>
      <p:sp>
        <p:nvSpPr>
          <p:cNvPr id="3" name="object 3" descr="$PPTXTitle"/>
          <p:cNvSpPr txBox="1">
            <a:spLocks noGrp="1"/>
          </p:cNvSpPr>
          <p:nvPr>
            <p:ph type="title"/>
          </p:nvPr>
        </p:nvSpPr>
        <p:spPr>
          <a:xfrm>
            <a:off x="655318" y="728662"/>
            <a:ext cx="7193281" cy="391795"/>
          </a:xfrm>
          <a:prstGeom prst="rect">
            <a:avLst/>
          </a:prstGeom>
        </p:spPr>
        <p:txBody>
          <a:bodyPr vert="horz" wrap="square" lIns="0" tIns="12700" rIns="0" bIns="0" rtlCol="0">
            <a:spAutoFit/>
          </a:bodyPr>
          <a:lstStyle/>
          <a:p>
            <a:pPr marL="12700">
              <a:lnSpc>
                <a:spcPct val="100000"/>
              </a:lnSpc>
              <a:spcBef>
                <a:spcPts val="100"/>
              </a:spcBef>
            </a:pPr>
            <a:r>
              <a:rPr dirty="0"/>
              <a:t>Problem</a:t>
            </a:r>
            <a:r>
              <a:rPr spc="-100" dirty="0"/>
              <a:t> </a:t>
            </a:r>
            <a:r>
              <a:rPr dirty="0"/>
              <a:t>Statement</a:t>
            </a:r>
            <a:r>
              <a:rPr spc="-45" dirty="0"/>
              <a:t> </a:t>
            </a:r>
            <a:r>
              <a:rPr lang="en-US" spc="-50" dirty="0" smtClean="0"/>
              <a:t>– College Admission Agent</a:t>
            </a:r>
            <a:endParaRPr spc="-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55319" y="1478978"/>
            <a:ext cx="10329545" cy="5260223"/>
          </a:xfrm>
          <a:prstGeom prst="rect">
            <a:avLst/>
          </a:prstGeom>
        </p:spPr>
        <p:txBody>
          <a:bodyPr vert="horz" wrap="square" lIns="0" tIns="15875" rIns="0" bIns="0" rtlCol="0">
            <a:spAutoFit/>
          </a:bodyPr>
          <a:lstStyle/>
          <a:p>
            <a:pPr marL="12700">
              <a:lnSpc>
                <a:spcPts val="1664"/>
              </a:lnSpc>
              <a:spcBef>
                <a:spcPts val="125"/>
              </a:spcBef>
            </a:pPr>
            <a:r>
              <a:rPr lang="en-US" sz="1400" b="1" dirty="0" smtClean="0">
                <a:latin typeface="Arial"/>
                <a:cs typeface="Arial"/>
              </a:rPr>
              <a:t>Proposed Solution: AI-Powered College Admission Agent</a:t>
            </a:r>
            <a:endParaRPr lang="en-US" sz="1400" dirty="0" smtClean="0">
              <a:latin typeface="Arial"/>
              <a:cs typeface="Arial"/>
            </a:endParaRPr>
          </a:p>
          <a:p>
            <a:pPr marL="12700">
              <a:lnSpc>
                <a:spcPts val="1650"/>
              </a:lnSpc>
            </a:pPr>
            <a:r>
              <a:rPr lang="en-US" sz="1400" dirty="0" smtClean="0">
                <a:latin typeface="Arial"/>
                <a:cs typeface="Arial"/>
              </a:rPr>
              <a:t>The proposed solution is a conversational AI-powered College Admission Agent built with React, Flask, and a</a:t>
            </a:r>
          </a:p>
          <a:p>
            <a:pPr marL="12700" marR="527050">
              <a:lnSpc>
                <a:spcPts val="1730"/>
              </a:lnSpc>
              <a:spcBef>
                <a:spcPts val="5"/>
              </a:spcBef>
            </a:pPr>
            <a:r>
              <a:rPr lang="en-US" sz="1400" dirty="0" smtClean="0">
                <a:latin typeface="Arial"/>
                <a:cs typeface="Arial"/>
              </a:rPr>
              <a:t>REST API — architected so IBM </a:t>
            </a:r>
            <a:r>
              <a:rPr lang="en-US" sz="1400" dirty="0" err="1" smtClean="0">
                <a:latin typeface="Arial"/>
                <a:cs typeface="Arial"/>
              </a:rPr>
              <a:t>watsonx.ai's</a:t>
            </a:r>
            <a:r>
              <a:rPr lang="en-US" sz="1400" dirty="0" smtClean="0">
                <a:latin typeface="Arial"/>
                <a:cs typeface="Arial"/>
              </a:rPr>
              <a:t> Granite models can be dropped in as the reasoning engine with a single function swap, requiring no frontend changes.</a:t>
            </a:r>
          </a:p>
          <a:p>
            <a:pPr marL="12700">
              <a:lnSpc>
                <a:spcPts val="1585"/>
              </a:lnSpc>
            </a:pPr>
            <a:r>
              <a:rPr lang="en-US" sz="1400" dirty="0" smtClean="0">
                <a:latin typeface="Arial"/>
                <a:cs typeface="Arial"/>
              </a:rPr>
              <a:t>At its core, the solution is designed around a Retrieval-Augmented Generation (RAG) pipeline that will fetch</a:t>
            </a:r>
          </a:p>
          <a:p>
            <a:pPr marL="12700" marR="5080">
              <a:lnSpc>
                <a:spcPts val="1650"/>
              </a:lnSpc>
              <a:spcBef>
                <a:spcPts val="125"/>
              </a:spcBef>
            </a:pPr>
            <a:r>
              <a:rPr lang="en-US" sz="1400" dirty="0" smtClean="0">
                <a:latin typeface="Arial"/>
                <a:cs typeface="Arial"/>
              </a:rPr>
              <a:t>accurate answers from official admission PDFs and brochures uploaded by the institution. This data will be chunked, embedded, and stored in a vector database, enabling the system to ground its answers in real documents rather than guesses.</a:t>
            </a:r>
          </a:p>
          <a:p>
            <a:pPr marL="12700">
              <a:lnSpc>
                <a:spcPts val="1605"/>
              </a:lnSpc>
            </a:pPr>
            <a:r>
              <a:rPr lang="en-US" sz="1400" dirty="0" smtClean="0">
                <a:latin typeface="Arial"/>
                <a:cs typeface="Arial"/>
              </a:rPr>
              <a:t>The system consists of four key logical agents:</a:t>
            </a:r>
          </a:p>
          <a:p>
            <a:pPr marL="12700">
              <a:lnSpc>
                <a:spcPts val="1664"/>
              </a:lnSpc>
              <a:spcBef>
                <a:spcPts val="50"/>
              </a:spcBef>
            </a:pPr>
            <a:r>
              <a:rPr lang="en-US" sz="1400" b="1" dirty="0" smtClean="0">
                <a:latin typeface="Arial"/>
                <a:cs typeface="Arial"/>
              </a:rPr>
              <a:t>Admission Knowledge Agent answers eligibility, hostel, placement, fee and process questions using structured admission data.</a:t>
            </a:r>
            <a:endParaRPr lang="en-US" sz="1400" dirty="0" smtClean="0">
              <a:latin typeface="Arial"/>
              <a:cs typeface="Arial"/>
            </a:endParaRPr>
          </a:p>
          <a:p>
            <a:pPr marL="12700" marR="330835">
              <a:lnSpc>
                <a:spcPts val="1730"/>
              </a:lnSpc>
            </a:pPr>
            <a:r>
              <a:rPr lang="en-US" sz="1400" b="1" dirty="0" smtClean="0">
                <a:latin typeface="Arial"/>
                <a:cs typeface="Arial"/>
              </a:rPr>
              <a:t>Course &amp; Scholarship Recommendation Agent matches a student's profile to relevant courses and scholarships based on eligibility and interests.</a:t>
            </a:r>
            <a:endParaRPr lang="en-US" sz="1400" dirty="0" smtClean="0">
              <a:latin typeface="Arial"/>
              <a:cs typeface="Arial"/>
            </a:endParaRPr>
          </a:p>
          <a:p>
            <a:pPr marL="12700">
              <a:lnSpc>
                <a:spcPts val="1565"/>
              </a:lnSpc>
            </a:pPr>
            <a:r>
              <a:rPr lang="en-US" sz="1400" b="1" dirty="0" smtClean="0">
                <a:latin typeface="Arial"/>
                <a:cs typeface="Arial"/>
              </a:rPr>
              <a:t>Document Verification Agent reviews uploaded admission documents (</a:t>
            </a:r>
            <a:r>
              <a:rPr lang="en-US" sz="1400" b="1" dirty="0" err="1" smtClean="0">
                <a:latin typeface="Arial"/>
                <a:cs typeface="Arial"/>
              </a:rPr>
              <a:t>marksheets</a:t>
            </a:r>
            <a:r>
              <a:rPr lang="en-US" sz="1400" b="1" dirty="0" smtClean="0">
                <a:latin typeface="Arial"/>
                <a:cs typeface="Arial"/>
              </a:rPr>
              <a:t>, certificates) and will flag missing or</a:t>
            </a:r>
            <a:endParaRPr lang="en-US" sz="1400" dirty="0" smtClean="0">
              <a:latin typeface="Arial"/>
              <a:cs typeface="Arial"/>
            </a:endParaRPr>
          </a:p>
          <a:p>
            <a:pPr marL="12700">
              <a:lnSpc>
                <a:spcPts val="1664"/>
              </a:lnSpc>
            </a:pPr>
            <a:r>
              <a:rPr lang="en-US" sz="1400" dirty="0" smtClean="0">
                <a:latin typeface="Arial"/>
                <a:cs typeface="Arial"/>
              </a:rPr>
              <a:t>inconsistent information once the RAG pipeline is fully connected.</a:t>
            </a:r>
          </a:p>
          <a:p>
            <a:pPr marL="12700" marR="429895">
              <a:lnSpc>
                <a:spcPts val="1650"/>
              </a:lnSpc>
              <a:spcBef>
                <a:spcPts val="125"/>
              </a:spcBef>
            </a:pPr>
            <a:r>
              <a:rPr lang="en-US" sz="1400" b="1" dirty="0" smtClean="0">
                <a:latin typeface="Arial"/>
                <a:cs typeface="Arial"/>
              </a:rPr>
              <a:t>Application Agent captures a student's course or scholarship application and issues a unique reference number for tracking.</a:t>
            </a:r>
            <a:endParaRPr lang="en-US" sz="1400" dirty="0" smtClean="0">
              <a:latin typeface="Arial"/>
              <a:cs typeface="Arial"/>
            </a:endParaRPr>
          </a:p>
          <a:p>
            <a:pPr marL="12700" marR="348615">
              <a:lnSpc>
                <a:spcPts val="1650"/>
              </a:lnSpc>
              <a:spcBef>
                <a:spcPts val="80"/>
              </a:spcBef>
            </a:pPr>
            <a:r>
              <a:rPr lang="en-US" sz="1400" dirty="0" smtClean="0">
                <a:latin typeface="Arial"/>
                <a:cs typeface="Arial"/>
              </a:rPr>
              <a:t>The solution includes a modern, responsive dashboard (built with React and Tailwind CSS) featuring a </a:t>
            </a:r>
            <a:r>
              <a:rPr lang="en-US" sz="1400" dirty="0" err="1" smtClean="0">
                <a:latin typeface="Arial"/>
                <a:cs typeface="Arial"/>
              </a:rPr>
              <a:t>ChatGPT</a:t>
            </a:r>
            <a:r>
              <a:rPr lang="en-US" sz="1400" dirty="0" smtClean="0">
                <a:latin typeface="Arial"/>
                <a:cs typeface="Arial"/>
              </a:rPr>
              <a:t>-style Admission Chat, a searchable Course Finder, a Scholarship explorer, and a transparent Fee Structure page.</a:t>
            </a:r>
          </a:p>
          <a:p>
            <a:pPr marL="12700">
              <a:lnSpc>
                <a:spcPts val="1605"/>
              </a:lnSpc>
            </a:pPr>
            <a:r>
              <a:rPr lang="en-US" sz="1400" dirty="0" smtClean="0">
                <a:latin typeface="Arial"/>
                <a:cs typeface="Arial"/>
              </a:rPr>
              <a:t>Flask powers the REST API layer today, while the architecture is IBM watsonx.ai-ready: </a:t>
            </a:r>
            <a:r>
              <a:rPr lang="en-US" sz="1400" dirty="0" err="1" smtClean="0">
                <a:latin typeface="Arial"/>
                <a:cs typeface="Arial"/>
              </a:rPr>
              <a:t>generate_ibm_response</a:t>
            </a:r>
            <a:r>
              <a:rPr lang="en-US" sz="1400" dirty="0" smtClean="0">
                <a:latin typeface="Arial"/>
                <a:cs typeface="Arial"/>
              </a:rPr>
              <a:t>() in</a:t>
            </a:r>
          </a:p>
          <a:p>
            <a:pPr marL="12700">
              <a:lnSpc>
                <a:spcPts val="1664"/>
              </a:lnSpc>
              <a:spcBef>
                <a:spcPts val="50"/>
              </a:spcBef>
            </a:pPr>
            <a:r>
              <a:rPr lang="en-US" sz="1400" dirty="0" smtClean="0">
                <a:latin typeface="Arial"/>
                <a:cs typeface="Arial"/>
              </a:rPr>
              <a:t>rag.py is the designated integration point for Granite models, and </a:t>
            </a:r>
            <a:r>
              <a:rPr lang="en-US" sz="1400" dirty="0" err="1" smtClean="0">
                <a:latin typeface="Arial"/>
                <a:cs typeface="Arial"/>
              </a:rPr>
              <a:t>retrieve_relevant_context</a:t>
            </a:r>
            <a:r>
              <a:rPr lang="en-US" sz="1400" dirty="0" smtClean="0">
                <a:latin typeface="Arial"/>
                <a:cs typeface="Arial"/>
              </a:rPr>
              <a:t>() is already </a:t>
            </a:r>
            <a:r>
              <a:rPr lang="en-US" sz="1400" dirty="0" err="1" smtClean="0">
                <a:latin typeface="Arial"/>
                <a:cs typeface="Arial"/>
              </a:rPr>
              <a:t>scaffolded</a:t>
            </a:r>
            <a:r>
              <a:rPr lang="en-US" sz="1400" dirty="0" smtClean="0">
                <a:latin typeface="Arial"/>
                <a:cs typeface="Arial"/>
              </a:rPr>
              <a:t> for the RAG retrieval step.</a:t>
            </a:r>
          </a:p>
          <a:p>
            <a:pPr marL="12700" marR="81280">
              <a:lnSpc>
                <a:spcPts val="1730"/>
              </a:lnSpc>
            </a:pPr>
            <a:r>
              <a:rPr lang="en-US" sz="1400" dirty="0" smtClean="0">
                <a:latin typeface="Arial"/>
                <a:cs typeface="Arial"/>
              </a:rPr>
              <a:t>Overall, this solution delivers an end-to-end intelligent admissions assistant that replaces scattered PDFs and helpline queues with instant, personalized, always-on guidance.</a:t>
            </a:r>
          </a:p>
          <a:p>
            <a:pPr marL="12700">
              <a:lnSpc>
                <a:spcPts val="1664"/>
              </a:lnSpc>
              <a:spcBef>
                <a:spcPts val="125"/>
              </a:spcBef>
            </a:pPr>
            <a:endParaRPr sz="1400" dirty="0">
              <a:latin typeface="Arial"/>
              <a:cs typeface="Arial"/>
            </a:endParaRPr>
          </a:p>
        </p:txBody>
      </p:sp>
      <p:sp>
        <p:nvSpPr>
          <p:cNvPr id="3" name="object 3" descr="$PPTXTitle"/>
          <p:cNvSpPr txBox="1">
            <a:spLocks noGrp="1"/>
          </p:cNvSpPr>
          <p:nvPr>
            <p:ph type="title"/>
          </p:nvPr>
        </p:nvSpPr>
        <p:spPr>
          <a:xfrm>
            <a:off x="655319" y="728662"/>
            <a:ext cx="2919095" cy="391795"/>
          </a:xfrm>
          <a:prstGeom prst="rect">
            <a:avLst/>
          </a:prstGeom>
        </p:spPr>
        <p:txBody>
          <a:bodyPr vert="horz" wrap="square" lIns="0" tIns="12700" rIns="0" bIns="0" rtlCol="0">
            <a:spAutoFit/>
          </a:bodyPr>
          <a:lstStyle/>
          <a:p>
            <a:pPr marL="12700">
              <a:lnSpc>
                <a:spcPct val="100000"/>
              </a:lnSpc>
              <a:spcBef>
                <a:spcPts val="100"/>
              </a:spcBef>
            </a:pPr>
            <a:r>
              <a:rPr dirty="0"/>
              <a:t>Proposed</a:t>
            </a:r>
            <a:r>
              <a:rPr spc="-70" dirty="0"/>
              <a:t> </a:t>
            </a:r>
            <a:r>
              <a:rPr dirty="0"/>
              <a:t>Solution</a:t>
            </a:r>
            <a:r>
              <a:rPr spc="-45" dirty="0"/>
              <a:t> </a:t>
            </a:r>
            <a:r>
              <a:rPr spc="-50" dirty="0"/>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29616" rIns="0" bIns="0" rtlCol="0">
            <a:spAutoFit/>
          </a:bodyPr>
          <a:lstStyle/>
          <a:p>
            <a:pPr marL="343535">
              <a:lnSpc>
                <a:spcPct val="100000"/>
              </a:lnSpc>
              <a:spcBef>
                <a:spcPts val="100"/>
              </a:spcBef>
            </a:pPr>
            <a:r>
              <a:rPr dirty="0"/>
              <a:t>Technology</a:t>
            </a:r>
            <a:r>
              <a:rPr spc="-114" dirty="0"/>
              <a:t> </a:t>
            </a:r>
            <a:r>
              <a:rPr spc="-20" dirty="0"/>
              <a:t>Used</a:t>
            </a:r>
          </a:p>
        </p:txBody>
      </p:sp>
      <p:sp>
        <p:nvSpPr>
          <p:cNvPr id="3" name="object 3"/>
          <p:cNvSpPr txBox="1"/>
          <p:nvPr/>
        </p:nvSpPr>
        <p:spPr>
          <a:xfrm>
            <a:off x="856614" y="1232217"/>
            <a:ext cx="10260330" cy="4495205"/>
          </a:xfrm>
          <a:prstGeom prst="rect">
            <a:avLst/>
          </a:prstGeom>
        </p:spPr>
        <p:txBody>
          <a:bodyPr vert="horz" wrap="square" lIns="0" tIns="10795" rIns="0" bIns="0" rtlCol="0">
            <a:spAutoFit/>
          </a:bodyPr>
          <a:lstStyle/>
          <a:p>
            <a:pPr marL="298450" marR="1010919" indent="-286385">
              <a:lnSpc>
                <a:spcPct val="100800"/>
              </a:lnSpc>
              <a:spcBef>
                <a:spcPts val="85"/>
              </a:spcBef>
              <a:buFont typeface="Arial"/>
              <a:buChar char="•"/>
              <a:tabLst>
                <a:tab pos="298450" algn="l"/>
              </a:tabLst>
            </a:pPr>
            <a:r>
              <a:rPr lang="en-US" sz="1800" b="1" dirty="0" smtClean="0">
                <a:latin typeface="Arial"/>
                <a:cs typeface="Arial"/>
              </a:rPr>
              <a:t>IBM </a:t>
            </a:r>
            <a:r>
              <a:rPr lang="en-US" sz="1800" b="1" dirty="0" err="1" smtClean="0">
                <a:latin typeface="Arial"/>
                <a:cs typeface="Arial"/>
              </a:rPr>
              <a:t>watsonx</a:t>
            </a:r>
            <a:r>
              <a:rPr lang="en-US" sz="1800" b="1" dirty="0" smtClean="0">
                <a:latin typeface="Arial"/>
                <a:cs typeface="Arial"/>
              </a:rPr>
              <a:t> Orchestrate – Hosts and runs the College Admission Agent, built with the no-code Agent Builder and tested live via the Talk-to-Agent chat interface</a:t>
            </a:r>
            <a:endParaRPr lang="en-US" sz="1800" dirty="0" smtClean="0">
              <a:latin typeface="Arial"/>
              <a:cs typeface="Arial"/>
            </a:endParaRPr>
          </a:p>
          <a:p>
            <a:pPr>
              <a:lnSpc>
                <a:spcPct val="100000"/>
              </a:lnSpc>
              <a:spcBef>
                <a:spcPts val="145"/>
              </a:spcBef>
              <a:buFont typeface="Arial"/>
              <a:buChar char="•"/>
            </a:pPr>
            <a:endParaRPr lang="en-US" sz="1800" dirty="0" smtClean="0">
              <a:latin typeface="Arial"/>
              <a:cs typeface="Arial"/>
            </a:endParaRPr>
          </a:p>
          <a:p>
            <a:pPr marL="298450" marR="5080" indent="-286385">
              <a:lnSpc>
                <a:spcPct val="99100"/>
              </a:lnSpc>
              <a:buFont typeface="Arial"/>
              <a:buChar char="•"/>
              <a:tabLst>
                <a:tab pos="298450" algn="l"/>
              </a:tabLst>
            </a:pPr>
            <a:r>
              <a:rPr lang="en-US" sz="1800" b="1" dirty="0" smtClean="0">
                <a:latin typeface="Arial"/>
                <a:cs typeface="Arial"/>
              </a:rPr>
              <a:t>AI Model – Currently configured with GPT-OSS 120B on the Orchestrate platform; IBM Granite models are natively supported and can be selected as an alternative reasoning engine.</a:t>
            </a:r>
            <a:endParaRPr lang="en-US" sz="1800" dirty="0" smtClean="0">
              <a:latin typeface="Arial"/>
              <a:cs typeface="Arial"/>
            </a:endParaRPr>
          </a:p>
          <a:p>
            <a:pPr>
              <a:lnSpc>
                <a:spcPct val="100000"/>
              </a:lnSpc>
              <a:spcBef>
                <a:spcPts val="105"/>
              </a:spcBef>
              <a:buFont typeface="Arial"/>
              <a:buChar char="•"/>
            </a:pPr>
            <a:endParaRPr lang="en-US" sz="1800" dirty="0" smtClean="0">
              <a:latin typeface="Arial"/>
              <a:cs typeface="Arial"/>
            </a:endParaRPr>
          </a:p>
          <a:p>
            <a:pPr marL="298450" marR="485140" indent="-286385">
              <a:lnSpc>
                <a:spcPct val="100899"/>
              </a:lnSpc>
              <a:buFont typeface="Arial"/>
              <a:buChar char="•"/>
              <a:tabLst>
                <a:tab pos="298450" algn="l"/>
              </a:tabLst>
            </a:pPr>
            <a:r>
              <a:rPr lang="en-US" sz="1800" b="1" dirty="0" smtClean="0">
                <a:latin typeface="Arial"/>
                <a:cs typeface="Arial"/>
              </a:rPr>
              <a:t>RAG (Retrieval-Augmented Generation) – Fetches real admission document content first, then generates grounded, trustworthy answers.</a:t>
            </a:r>
            <a:endParaRPr lang="en-US" sz="1800" dirty="0" smtClean="0">
              <a:latin typeface="Arial"/>
              <a:cs typeface="Arial"/>
            </a:endParaRPr>
          </a:p>
          <a:p>
            <a:pPr>
              <a:lnSpc>
                <a:spcPct val="100000"/>
              </a:lnSpc>
              <a:spcBef>
                <a:spcPts val="50"/>
              </a:spcBef>
              <a:buFont typeface="Arial"/>
              <a:buChar char="•"/>
            </a:pPr>
            <a:endParaRPr lang="en-US" sz="1800" dirty="0" smtClean="0">
              <a:latin typeface="Arial"/>
              <a:cs typeface="Arial"/>
            </a:endParaRPr>
          </a:p>
          <a:p>
            <a:pPr marL="298450" indent="-285750">
              <a:lnSpc>
                <a:spcPct val="100000"/>
              </a:lnSpc>
              <a:buFont typeface="Arial"/>
              <a:buChar char="•"/>
              <a:tabLst>
                <a:tab pos="298450" algn="l"/>
              </a:tabLst>
            </a:pPr>
            <a:r>
              <a:rPr lang="en-US" sz="1800" b="1" dirty="0" smtClean="0">
                <a:latin typeface="Arial"/>
                <a:cs typeface="Arial"/>
              </a:rPr>
              <a:t>React.js + Tailwind CSS + Flask (REST API) – Powers the chat UI, course finder, scholarship explorer, fee structure and application flow.</a:t>
            </a:r>
            <a:endParaRPr lang="en-US" sz="1800" dirty="0" smtClean="0">
              <a:latin typeface="Arial"/>
              <a:cs typeface="Arial"/>
            </a:endParaRPr>
          </a:p>
          <a:p>
            <a:pPr>
              <a:lnSpc>
                <a:spcPct val="100000"/>
              </a:lnSpc>
              <a:spcBef>
                <a:spcPts val="125"/>
              </a:spcBef>
              <a:buFont typeface="Arial"/>
              <a:buChar char="•"/>
            </a:pPr>
            <a:endParaRPr lang="en-US" sz="1800" dirty="0" smtClean="0">
              <a:latin typeface="Arial"/>
              <a:cs typeface="Arial"/>
            </a:endParaRPr>
          </a:p>
          <a:p>
            <a:pPr marL="298450" indent="-285750">
              <a:lnSpc>
                <a:spcPct val="100000"/>
              </a:lnSpc>
              <a:buFont typeface="Arial"/>
              <a:buChar char="•"/>
              <a:tabLst>
                <a:tab pos="298450" algn="l"/>
              </a:tabLst>
            </a:pPr>
            <a:r>
              <a:rPr lang="en-US" sz="1800" b="1" dirty="0" smtClean="0">
                <a:latin typeface="Arial"/>
                <a:cs typeface="Arial"/>
              </a:rPr>
              <a:t>Vector Database (FAISS/Chroma) – For RAG-based admission document retrieval from uploaded PDFs.</a:t>
            </a:r>
            <a:endParaRPr lang="en-US" sz="1800" dirty="0" smtClean="0">
              <a:latin typeface="Arial"/>
              <a:cs typeface="Arial"/>
            </a:endParaRPr>
          </a:p>
          <a:p>
            <a:pPr marL="298450" marR="1010919" indent="-286385">
              <a:lnSpc>
                <a:spcPct val="100800"/>
              </a:lnSpc>
              <a:spcBef>
                <a:spcPts val="85"/>
              </a:spcBef>
              <a:buFont typeface="Arial"/>
              <a:buChar char="•"/>
              <a:tabLst>
                <a:tab pos="298450" algn="l"/>
              </a:tabLst>
            </a:pPr>
            <a:endParaRPr sz="1800" dirty="0">
              <a:latin typeface="Arial"/>
              <a:cs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Orchestrate</a:t>
            </a:r>
            <a:r>
              <a:rPr spc="-90" dirty="0"/>
              <a:t> </a:t>
            </a:r>
            <a:r>
              <a:rPr dirty="0"/>
              <a:t>component</a:t>
            </a:r>
            <a:r>
              <a:rPr spc="-40" dirty="0"/>
              <a:t> </a:t>
            </a:r>
            <a:r>
              <a:rPr dirty="0"/>
              <a:t>Used</a:t>
            </a:r>
            <a:r>
              <a:rPr spc="-114" dirty="0"/>
              <a:t> </a:t>
            </a:r>
            <a:r>
              <a:rPr spc="-50" dirty="0"/>
              <a:t>-</a:t>
            </a:r>
          </a:p>
        </p:txBody>
      </p:sp>
      <p:sp>
        <p:nvSpPr>
          <p:cNvPr id="3" name="object 3"/>
          <p:cNvSpPr/>
          <p:nvPr/>
        </p:nvSpPr>
        <p:spPr>
          <a:xfrm>
            <a:off x="772642" y="4118864"/>
            <a:ext cx="3200400" cy="200025"/>
          </a:xfrm>
          <a:custGeom>
            <a:avLst/>
            <a:gdLst/>
            <a:ahLst/>
            <a:cxnLst/>
            <a:rect l="l" t="t" r="r" b="b"/>
            <a:pathLst>
              <a:path w="3200400" h="200025">
                <a:moveTo>
                  <a:pt x="3200400" y="0"/>
                </a:moveTo>
                <a:lnTo>
                  <a:pt x="0" y="0"/>
                </a:lnTo>
                <a:lnTo>
                  <a:pt x="0" y="200025"/>
                </a:lnTo>
                <a:lnTo>
                  <a:pt x="3200400" y="200025"/>
                </a:lnTo>
                <a:lnTo>
                  <a:pt x="3200400" y="0"/>
                </a:lnTo>
                <a:close/>
              </a:path>
            </a:pathLst>
          </a:custGeom>
          <a:solidFill>
            <a:srgbClr val="FFFF00"/>
          </a:solidFill>
        </p:spPr>
        <p:txBody>
          <a:bodyPr wrap="square" lIns="0" tIns="0" rIns="0" bIns="0" rtlCol="0"/>
          <a:lstStyle/>
          <a:p>
            <a:endParaRPr/>
          </a:p>
        </p:txBody>
      </p:sp>
      <p:sp>
        <p:nvSpPr>
          <p:cNvPr id="4" name="object 4"/>
          <p:cNvSpPr txBox="1"/>
          <p:nvPr/>
        </p:nvSpPr>
        <p:spPr>
          <a:xfrm>
            <a:off x="554037" y="1107122"/>
            <a:ext cx="8629015" cy="2188676"/>
          </a:xfrm>
          <a:prstGeom prst="rect">
            <a:avLst/>
          </a:prstGeom>
        </p:spPr>
        <p:txBody>
          <a:bodyPr vert="horz" wrap="square" lIns="0" tIns="15875" rIns="0" bIns="0" rtlCol="0">
            <a:spAutoFit/>
          </a:bodyPr>
          <a:lstStyle/>
          <a:p>
            <a:pPr marL="221615" indent="-208915">
              <a:lnSpc>
                <a:spcPct val="100000"/>
              </a:lnSpc>
              <a:spcBef>
                <a:spcPts val="125"/>
              </a:spcBef>
              <a:buAutoNum type="arabicParenR"/>
              <a:tabLst>
                <a:tab pos="221615" algn="l"/>
              </a:tabLst>
            </a:pPr>
            <a:r>
              <a:rPr lang="en-US" sz="1400" b="1" dirty="0" smtClean="0">
                <a:latin typeface="Arial"/>
                <a:cs typeface="Arial"/>
              </a:rPr>
              <a:t>Chat Input – Interface where students type questions about eligibility, courses, fees or scholarships.</a:t>
            </a:r>
            <a:endParaRPr lang="en-US" sz="1400" dirty="0" smtClean="0">
              <a:latin typeface="Arial"/>
              <a:cs typeface="Arial"/>
            </a:endParaRPr>
          </a:p>
          <a:p>
            <a:pPr marL="12700" marR="309245" indent="208915">
              <a:lnSpc>
                <a:spcPct val="102899"/>
              </a:lnSpc>
              <a:spcBef>
                <a:spcPts val="1575"/>
              </a:spcBef>
              <a:buAutoNum type="arabicParenR"/>
              <a:tabLst>
                <a:tab pos="221615" algn="l"/>
              </a:tabLst>
            </a:pPr>
            <a:r>
              <a:rPr lang="en-US" sz="1400" b="1" dirty="0" smtClean="0">
                <a:latin typeface="Arial"/>
                <a:cs typeface="Arial"/>
              </a:rPr>
              <a:t>AI Response Engine - Processes each question via the College Admission Agent built in IBM     </a:t>
            </a:r>
            <a:r>
              <a:rPr lang="en-US" sz="1400" b="1" dirty="0">
                <a:latin typeface="Arial"/>
                <a:cs typeface="Arial"/>
              </a:rPr>
              <a:t> </a:t>
            </a:r>
            <a:r>
              <a:rPr lang="en-US" sz="1400" b="1" dirty="0" smtClean="0">
                <a:latin typeface="Arial"/>
                <a:cs typeface="Arial"/>
              </a:rPr>
              <a:t>   </a:t>
            </a:r>
            <a:r>
              <a:rPr lang="en-US" sz="1400" b="1" dirty="0" err="1" smtClean="0">
                <a:latin typeface="Arial"/>
                <a:cs typeface="Arial"/>
              </a:rPr>
              <a:t>watsonx</a:t>
            </a:r>
            <a:r>
              <a:rPr lang="en-US" sz="1400" b="1" dirty="0" smtClean="0">
                <a:latin typeface="Arial"/>
                <a:cs typeface="Arial"/>
              </a:rPr>
              <a:t> Orchestrate.</a:t>
            </a:r>
            <a:endParaRPr lang="en-US" sz="1400" dirty="0" smtClean="0">
              <a:latin typeface="Arial"/>
              <a:cs typeface="Arial"/>
            </a:endParaRPr>
          </a:p>
          <a:p>
            <a:pPr marL="221615" indent="-208915">
              <a:lnSpc>
                <a:spcPct val="100000"/>
              </a:lnSpc>
              <a:buAutoNum type="arabicParenR"/>
              <a:tabLst>
                <a:tab pos="221615" algn="l"/>
              </a:tabLst>
            </a:pPr>
            <a:r>
              <a:rPr lang="en-US" sz="1400" b="1" dirty="0" smtClean="0">
                <a:latin typeface="Arial"/>
                <a:cs typeface="Arial"/>
              </a:rPr>
              <a:t>AI Model Used - GPT-OSS 120B (Granite also natively supported)</a:t>
            </a:r>
            <a:endParaRPr lang="en-US" sz="1400" dirty="0" smtClean="0">
              <a:latin typeface="Arial"/>
              <a:cs typeface="Arial"/>
            </a:endParaRPr>
          </a:p>
          <a:p>
            <a:pPr marL="12700" marR="724535" indent="208915">
              <a:lnSpc>
                <a:spcPct val="102899"/>
              </a:lnSpc>
              <a:spcBef>
                <a:spcPts val="1580"/>
              </a:spcBef>
              <a:buAutoNum type="arabicParenR"/>
              <a:tabLst>
                <a:tab pos="221615" algn="l"/>
              </a:tabLst>
            </a:pPr>
            <a:r>
              <a:rPr lang="en-US" sz="1400" b="1" dirty="0" smtClean="0">
                <a:latin typeface="Arial"/>
                <a:cs typeface="Arial"/>
              </a:rPr>
              <a:t>Chat Output - Displays the AI-generated answer with markdown formatting and a typing indicator.</a:t>
            </a:r>
            <a:endParaRPr lang="en-US" sz="1400" dirty="0" smtClean="0">
              <a:latin typeface="Arial"/>
              <a:cs typeface="Arial"/>
            </a:endParaRPr>
          </a:p>
          <a:p>
            <a:pPr marL="221615" indent="-208915">
              <a:lnSpc>
                <a:spcPct val="100000"/>
              </a:lnSpc>
              <a:spcBef>
                <a:spcPts val="125"/>
              </a:spcBef>
              <a:buAutoNum type="arabicParenR"/>
              <a:tabLst>
                <a:tab pos="221615" algn="l"/>
              </a:tabLst>
            </a:pPr>
            <a:endParaRPr sz="1400" dirty="0">
              <a:latin typeface="Arial"/>
              <a:cs typeface="Arial"/>
            </a:endParaRPr>
          </a:p>
        </p:txBody>
      </p:sp>
      <p:sp>
        <p:nvSpPr>
          <p:cNvPr id="5" name="object 5"/>
          <p:cNvSpPr txBox="1"/>
          <p:nvPr/>
        </p:nvSpPr>
        <p:spPr>
          <a:xfrm>
            <a:off x="554037" y="3244215"/>
            <a:ext cx="180975" cy="242570"/>
          </a:xfrm>
          <a:prstGeom prst="rect">
            <a:avLst/>
          </a:prstGeom>
        </p:spPr>
        <p:txBody>
          <a:bodyPr vert="horz" wrap="square" lIns="0" tIns="15875" rIns="0" bIns="0" rtlCol="0">
            <a:spAutoFit/>
          </a:bodyPr>
          <a:lstStyle/>
          <a:p>
            <a:pPr marL="12700">
              <a:lnSpc>
                <a:spcPct val="100000"/>
              </a:lnSpc>
              <a:spcBef>
                <a:spcPts val="125"/>
              </a:spcBef>
            </a:pPr>
            <a:r>
              <a:rPr sz="1400" b="1" spc="-25" dirty="0">
                <a:latin typeface="Arial"/>
                <a:cs typeface="Arial"/>
              </a:rPr>
              <a:t>5)</a:t>
            </a:r>
            <a:endParaRPr sz="1400">
              <a:latin typeface="Arial"/>
              <a:cs typeface="Arial"/>
            </a:endParaRPr>
          </a:p>
        </p:txBody>
      </p:sp>
      <p:sp>
        <p:nvSpPr>
          <p:cNvPr id="6" name="object 6"/>
          <p:cNvSpPr txBox="1"/>
          <p:nvPr/>
        </p:nvSpPr>
        <p:spPr>
          <a:xfrm>
            <a:off x="772642" y="3271139"/>
            <a:ext cx="7966075" cy="410369"/>
          </a:xfrm>
          <a:prstGeom prst="rect">
            <a:avLst/>
          </a:prstGeom>
          <a:solidFill>
            <a:srgbClr val="FFFF00"/>
          </a:solidFill>
        </p:spPr>
        <p:txBody>
          <a:bodyPr vert="horz" wrap="square" lIns="0" tIns="0" rIns="0" bIns="0" rtlCol="0">
            <a:spAutoFit/>
          </a:bodyPr>
          <a:lstStyle/>
          <a:p>
            <a:pPr>
              <a:lnSpc>
                <a:spcPts val="1575"/>
              </a:lnSpc>
            </a:pPr>
            <a:r>
              <a:rPr lang="en-US" sz="1400" b="1" dirty="0" smtClean="0">
                <a:latin typeface="Arial"/>
                <a:cs typeface="Arial"/>
              </a:rPr>
              <a:t>File component - Stores and retrieves uploaded admission documents for future AI-assisted</a:t>
            </a:r>
            <a:endParaRPr lang="en-US" sz="1400" dirty="0" smtClean="0">
              <a:latin typeface="Arial"/>
              <a:cs typeface="Arial"/>
            </a:endParaRPr>
          </a:p>
          <a:p>
            <a:pPr>
              <a:lnSpc>
                <a:spcPts val="1575"/>
              </a:lnSpc>
            </a:pPr>
            <a:endParaRPr sz="1400" dirty="0">
              <a:solidFill>
                <a:schemeClr val="bg1"/>
              </a:solidFill>
              <a:latin typeface="Arial"/>
              <a:cs typeface="Arial"/>
            </a:endParaRPr>
          </a:p>
        </p:txBody>
      </p:sp>
      <p:sp>
        <p:nvSpPr>
          <p:cNvPr id="7" name="object 7"/>
          <p:cNvSpPr txBox="1"/>
          <p:nvPr/>
        </p:nvSpPr>
        <p:spPr>
          <a:xfrm>
            <a:off x="953617" y="3471164"/>
            <a:ext cx="1713383" cy="218008"/>
          </a:xfrm>
          <a:prstGeom prst="rect">
            <a:avLst/>
          </a:prstGeom>
          <a:solidFill>
            <a:srgbClr val="FFFF00"/>
          </a:solidFill>
        </p:spPr>
        <p:txBody>
          <a:bodyPr vert="horz" wrap="square" lIns="0" tIns="0" rIns="0" bIns="0" rtlCol="0">
            <a:spAutoFit/>
          </a:bodyPr>
          <a:lstStyle/>
          <a:p>
            <a:pPr>
              <a:lnSpc>
                <a:spcPts val="1650"/>
              </a:lnSpc>
            </a:pPr>
            <a:r>
              <a:rPr lang="en-US" sz="1400" b="1" spc="-10" dirty="0" smtClean="0">
                <a:latin typeface="Arial"/>
                <a:cs typeface="Arial"/>
              </a:rPr>
              <a:t>review</a:t>
            </a:r>
            <a:r>
              <a:rPr sz="1400" b="1" spc="-10" dirty="0" smtClean="0">
                <a:latin typeface="Arial"/>
                <a:cs typeface="Arial"/>
              </a:rPr>
              <a:t>.</a:t>
            </a:r>
            <a:endParaRPr sz="1400" b="1" dirty="0">
              <a:latin typeface="Arial"/>
              <a:cs typeface="Arial"/>
            </a:endParaRPr>
          </a:p>
        </p:txBody>
      </p:sp>
      <p:sp>
        <p:nvSpPr>
          <p:cNvPr id="8" name="object 8"/>
          <p:cNvSpPr txBox="1"/>
          <p:nvPr/>
        </p:nvSpPr>
        <p:spPr>
          <a:xfrm>
            <a:off x="554036" y="3810001"/>
            <a:ext cx="4398964" cy="675185"/>
          </a:xfrm>
          <a:prstGeom prst="rect">
            <a:avLst/>
          </a:prstGeom>
        </p:spPr>
        <p:txBody>
          <a:bodyPr vert="horz" wrap="square" lIns="0" tIns="15875" rIns="0" bIns="0" rtlCol="0">
            <a:spAutoFit/>
          </a:bodyPr>
          <a:lstStyle/>
          <a:p>
            <a:pPr marL="12700">
              <a:spcBef>
                <a:spcPts val="125"/>
              </a:spcBef>
            </a:pPr>
            <a:r>
              <a:rPr lang="en-US" sz="1400" b="1" dirty="0" smtClean="0">
                <a:latin typeface="Arial"/>
                <a:cs typeface="Arial"/>
              </a:rPr>
              <a:t>6) Application Agent – captures and stores course/scholarship applications.</a:t>
            </a:r>
          </a:p>
          <a:p>
            <a:pPr marL="12700">
              <a:lnSpc>
                <a:spcPct val="100000"/>
              </a:lnSpc>
              <a:spcBef>
                <a:spcPts val="125"/>
              </a:spcBef>
            </a:pPr>
            <a:endParaRPr sz="1400" b="1" dirty="0">
              <a:latin typeface="Arial"/>
              <a:cs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Agent</a:t>
            </a:r>
            <a:r>
              <a:rPr spc="-10" dirty="0"/>
              <a:t> Instructions</a:t>
            </a:r>
            <a:r>
              <a:rPr spc="-85" dirty="0"/>
              <a:t> </a:t>
            </a:r>
            <a:r>
              <a:rPr spc="-10" dirty="0"/>
              <a:t>Screenshot-</a:t>
            </a:r>
          </a:p>
        </p:txBody>
      </p:sp>
      <p:pic>
        <p:nvPicPr>
          <p:cNvPr id="5" name="Picture 4"/>
          <p:cNvPicPr>
            <a:picLocks noChangeAspect="1"/>
          </p:cNvPicPr>
          <p:nvPr/>
        </p:nvPicPr>
        <p:blipFill>
          <a:blip r:embed="rId2"/>
          <a:stretch>
            <a:fillRect/>
          </a:stretch>
        </p:blipFill>
        <p:spPr>
          <a:xfrm>
            <a:off x="838200" y="809247"/>
            <a:ext cx="10210800" cy="582015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Agent</a:t>
            </a:r>
            <a:r>
              <a:rPr spc="-10" dirty="0"/>
              <a:t> Instructions</a:t>
            </a:r>
            <a:r>
              <a:rPr spc="-85" dirty="0"/>
              <a:t> </a:t>
            </a:r>
            <a:r>
              <a:rPr spc="-10" dirty="0"/>
              <a:t>Screenshot-</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5462" y="1219200"/>
            <a:ext cx="8770938" cy="5257800"/>
          </a:xfrm>
          <a:prstGeom prst="rect">
            <a:avLst/>
          </a:prstGeom>
        </p:spPr>
      </p:pic>
    </p:spTree>
    <p:extLst>
      <p:ext uri="{BB962C8B-B14F-4D97-AF65-F5344CB8AC3E}">
        <p14:creationId xmlns:p14="http://schemas.microsoft.com/office/powerpoint/2010/main" val="41675531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Agent</a:t>
            </a:r>
            <a:r>
              <a:rPr spc="-10" dirty="0"/>
              <a:t> Instructions</a:t>
            </a:r>
            <a:r>
              <a:rPr spc="-85" dirty="0"/>
              <a:t> </a:t>
            </a:r>
            <a:r>
              <a:rPr spc="-10" dirty="0"/>
              <a:t>Screenshot-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9200" y="968374"/>
            <a:ext cx="8153399" cy="5051426"/>
          </a:xfrm>
          <a:prstGeom prst="rect">
            <a:avLst/>
          </a:prstGeom>
        </p:spPr>
      </p:pic>
    </p:spTree>
    <p:extLst>
      <p:ext uri="{BB962C8B-B14F-4D97-AF65-F5344CB8AC3E}">
        <p14:creationId xmlns:p14="http://schemas.microsoft.com/office/powerpoint/2010/main" val="6225686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p:nvPr/>
        </p:nvSpPr>
        <p:spPr>
          <a:xfrm>
            <a:off x="525462" y="359155"/>
            <a:ext cx="6103938" cy="382797"/>
          </a:xfrm>
          <a:prstGeom prst="rect">
            <a:avLst/>
          </a:prstGeom>
        </p:spPr>
        <p:txBody>
          <a:bodyPr vert="horz" wrap="square" lIns="0" tIns="13335" rIns="0" bIns="0" rtlCol="0">
            <a:spAutoFit/>
          </a:bodyPr>
          <a:lstStyle/>
          <a:p>
            <a:pPr marL="12700">
              <a:lnSpc>
                <a:spcPct val="100000"/>
              </a:lnSpc>
              <a:spcBef>
                <a:spcPts val="105"/>
              </a:spcBef>
            </a:pPr>
            <a:r>
              <a:rPr lang="en-US" sz="2400" b="1" dirty="0" smtClean="0">
                <a:latin typeface="Arial"/>
                <a:cs typeface="Arial"/>
              </a:rPr>
              <a:t>Working of IBM </a:t>
            </a:r>
            <a:r>
              <a:rPr lang="en-US" sz="2400" b="1" dirty="0" err="1" smtClean="0">
                <a:latin typeface="Arial"/>
                <a:cs typeface="Arial"/>
              </a:rPr>
              <a:t>Watsonx</a:t>
            </a:r>
            <a:r>
              <a:rPr lang="en-US" sz="2400" b="1" dirty="0" smtClean="0">
                <a:latin typeface="Arial"/>
                <a:cs typeface="Arial"/>
              </a:rPr>
              <a:t> Orchestrate:</a:t>
            </a:r>
            <a:endParaRPr sz="2400" b="1" dirty="0">
              <a:latin typeface="Arial"/>
              <a:cs typeface="Arial"/>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990600"/>
            <a:ext cx="11430000" cy="5715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80454" rIns="0" bIns="0" rtlCol="0">
            <a:spAutoFit/>
          </a:bodyPr>
          <a:lstStyle/>
          <a:p>
            <a:pPr marL="12700">
              <a:lnSpc>
                <a:spcPct val="100000"/>
              </a:lnSpc>
              <a:spcBef>
                <a:spcPts val="105"/>
              </a:spcBef>
            </a:pPr>
            <a:r>
              <a:rPr dirty="0"/>
              <a:t>Other</a:t>
            </a:r>
            <a:r>
              <a:rPr spc="-75" dirty="0"/>
              <a:t> </a:t>
            </a:r>
            <a:r>
              <a:rPr dirty="0"/>
              <a:t>Applicable</a:t>
            </a:r>
            <a:r>
              <a:rPr spc="-25" dirty="0"/>
              <a:t> </a:t>
            </a:r>
            <a:r>
              <a:rPr spc="-10" dirty="0"/>
              <a:t>Screenshots: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 y="1219200"/>
            <a:ext cx="8686800" cy="477535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80454" rIns="0" bIns="0" rtlCol="0">
            <a:spAutoFit/>
          </a:bodyPr>
          <a:lstStyle/>
          <a:p>
            <a:pPr marL="12700">
              <a:lnSpc>
                <a:spcPct val="100000"/>
              </a:lnSpc>
              <a:spcBef>
                <a:spcPts val="105"/>
              </a:spcBef>
            </a:pPr>
            <a:r>
              <a:rPr dirty="0"/>
              <a:t>Other</a:t>
            </a:r>
            <a:r>
              <a:rPr spc="-75" dirty="0"/>
              <a:t> </a:t>
            </a:r>
            <a:r>
              <a:rPr dirty="0"/>
              <a:t>Applicable</a:t>
            </a:r>
            <a:r>
              <a:rPr spc="-25" dirty="0"/>
              <a:t> </a:t>
            </a:r>
            <a:r>
              <a:rPr spc="-10" dirty="0"/>
              <a:t>Screenshots:</a:t>
            </a:r>
          </a:p>
        </p:txBody>
      </p:sp>
      <p:pic>
        <p:nvPicPr>
          <p:cNvPr id="3" name="Picture 2"/>
          <p:cNvPicPr>
            <a:picLocks noChangeAspect="1"/>
          </p:cNvPicPr>
          <p:nvPr/>
        </p:nvPicPr>
        <p:blipFill>
          <a:blip r:embed="rId2"/>
          <a:stretch>
            <a:fillRect/>
          </a:stretch>
        </p:blipFill>
        <p:spPr>
          <a:xfrm>
            <a:off x="377531" y="1295399"/>
            <a:ext cx="9299869" cy="5089677"/>
          </a:xfrm>
          <a:prstGeom prst="rect">
            <a:avLst/>
          </a:prstGeom>
        </p:spPr>
      </p:pic>
    </p:spTree>
    <p:extLst>
      <p:ext uri="{BB962C8B-B14F-4D97-AF65-F5344CB8AC3E}">
        <p14:creationId xmlns:p14="http://schemas.microsoft.com/office/powerpoint/2010/main" val="2999433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80454" rIns="0" bIns="0" rtlCol="0">
            <a:spAutoFit/>
          </a:bodyPr>
          <a:lstStyle/>
          <a:p>
            <a:pPr marL="12700">
              <a:lnSpc>
                <a:spcPct val="100000"/>
              </a:lnSpc>
              <a:spcBef>
                <a:spcPts val="105"/>
              </a:spcBef>
            </a:pPr>
            <a:r>
              <a:rPr dirty="0"/>
              <a:t>Other</a:t>
            </a:r>
            <a:r>
              <a:rPr spc="-75" dirty="0"/>
              <a:t> </a:t>
            </a:r>
            <a:r>
              <a:rPr dirty="0"/>
              <a:t>Applicable</a:t>
            </a:r>
            <a:r>
              <a:rPr spc="-25" dirty="0"/>
              <a:t> </a:t>
            </a:r>
            <a:r>
              <a:rPr spc="-10" dirty="0"/>
              <a:t>Screenshots:</a:t>
            </a:r>
          </a:p>
        </p:txBody>
      </p:sp>
      <p:pic>
        <p:nvPicPr>
          <p:cNvPr id="4" name="Picture 3"/>
          <p:cNvPicPr>
            <a:picLocks noChangeAspect="1"/>
          </p:cNvPicPr>
          <p:nvPr/>
        </p:nvPicPr>
        <p:blipFill>
          <a:blip r:embed="rId2"/>
          <a:stretch>
            <a:fillRect/>
          </a:stretch>
        </p:blipFill>
        <p:spPr>
          <a:xfrm>
            <a:off x="148919" y="838200"/>
            <a:ext cx="9757081" cy="5565928"/>
          </a:xfrm>
          <a:prstGeom prst="rect">
            <a:avLst/>
          </a:prstGeom>
        </p:spPr>
      </p:pic>
    </p:spTree>
    <p:extLst>
      <p:ext uri="{BB962C8B-B14F-4D97-AF65-F5344CB8AC3E}">
        <p14:creationId xmlns:p14="http://schemas.microsoft.com/office/powerpoint/2010/main" val="26291666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80454" rIns="0" bIns="0" rtlCol="0">
            <a:spAutoFit/>
          </a:bodyPr>
          <a:lstStyle/>
          <a:p>
            <a:pPr marL="12700">
              <a:lnSpc>
                <a:spcPct val="100000"/>
              </a:lnSpc>
              <a:spcBef>
                <a:spcPts val="105"/>
              </a:spcBef>
            </a:pPr>
            <a:r>
              <a:rPr dirty="0"/>
              <a:t>Other</a:t>
            </a:r>
            <a:r>
              <a:rPr spc="-75" dirty="0"/>
              <a:t> </a:t>
            </a:r>
            <a:r>
              <a:rPr dirty="0"/>
              <a:t>Applicable</a:t>
            </a:r>
            <a:r>
              <a:rPr spc="-25" dirty="0"/>
              <a:t> </a:t>
            </a:r>
            <a:r>
              <a:rPr spc="-10" dirty="0"/>
              <a:t>Screenshots:</a:t>
            </a:r>
          </a:p>
        </p:txBody>
      </p:sp>
      <p:pic>
        <p:nvPicPr>
          <p:cNvPr id="3" name="Picture 2"/>
          <p:cNvPicPr>
            <a:picLocks noChangeAspect="1"/>
          </p:cNvPicPr>
          <p:nvPr/>
        </p:nvPicPr>
        <p:blipFill>
          <a:blip r:embed="rId2"/>
          <a:stretch>
            <a:fillRect/>
          </a:stretch>
        </p:blipFill>
        <p:spPr>
          <a:xfrm>
            <a:off x="457200" y="947297"/>
            <a:ext cx="9601200" cy="5453504"/>
          </a:xfrm>
          <a:prstGeom prst="rect">
            <a:avLst/>
          </a:prstGeom>
        </p:spPr>
      </p:pic>
    </p:spTree>
    <p:extLst>
      <p:ext uri="{BB962C8B-B14F-4D97-AF65-F5344CB8AC3E}">
        <p14:creationId xmlns:p14="http://schemas.microsoft.com/office/powerpoint/2010/main" val="34151419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80454" rIns="0" bIns="0" rtlCol="0">
            <a:spAutoFit/>
          </a:bodyPr>
          <a:lstStyle/>
          <a:p>
            <a:pPr marL="12700">
              <a:lnSpc>
                <a:spcPct val="100000"/>
              </a:lnSpc>
              <a:spcBef>
                <a:spcPts val="105"/>
              </a:spcBef>
            </a:pPr>
            <a:r>
              <a:rPr dirty="0"/>
              <a:t>Other</a:t>
            </a:r>
            <a:r>
              <a:rPr spc="-75" dirty="0"/>
              <a:t> </a:t>
            </a:r>
            <a:r>
              <a:rPr dirty="0"/>
              <a:t>Applicable</a:t>
            </a:r>
            <a:r>
              <a:rPr spc="-25" dirty="0"/>
              <a:t> </a:t>
            </a:r>
            <a:r>
              <a:rPr spc="-10" dirty="0"/>
              <a:t>Screenshots:</a:t>
            </a:r>
          </a:p>
        </p:txBody>
      </p:sp>
      <p:pic>
        <p:nvPicPr>
          <p:cNvPr id="4" name="Picture 3"/>
          <p:cNvPicPr>
            <a:picLocks noChangeAspect="1"/>
          </p:cNvPicPr>
          <p:nvPr/>
        </p:nvPicPr>
        <p:blipFill>
          <a:blip r:embed="rId2"/>
          <a:stretch>
            <a:fillRect/>
          </a:stretch>
        </p:blipFill>
        <p:spPr>
          <a:xfrm>
            <a:off x="304800" y="838200"/>
            <a:ext cx="9829800" cy="5683542"/>
          </a:xfrm>
          <a:prstGeom prst="rect">
            <a:avLst/>
          </a:prstGeom>
        </p:spPr>
      </p:pic>
    </p:spTree>
    <p:extLst>
      <p:ext uri="{BB962C8B-B14F-4D97-AF65-F5344CB8AC3E}">
        <p14:creationId xmlns:p14="http://schemas.microsoft.com/office/powerpoint/2010/main" val="27580393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80454" rIns="0" bIns="0" rtlCol="0">
            <a:spAutoFit/>
          </a:bodyPr>
          <a:lstStyle/>
          <a:p>
            <a:pPr marL="12700">
              <a:lnSpc>
                <a:spcPct val="100000"/>
              </a:lnSpc>
              <a:spcBef>
                <a:spcPts val="105"/>
              </a:spcBef>
            </a:pPr>
            <a:r>
              <a:rPr dirty="0"/>
              <a:t>Other</a:t>
            </a:r>
            <a:r>
              <a:rPr spc="-75" dirty="0"/>
              <a:t> </a:t>
            </a:r>
            <a:r>
              <a:rPr dirty="0"/>
              <a:t>Applicable</a:t>
            </a:r>
            <a:r>
              <a:rPr spc="-25" dirty="0"/>
              <a:t> </a:t>
            </a:r>
            <a:r>
              <a:rPr spc="-10" dirty="0"/>
              <a:t>Screenshots:</a:t>
            </a:r>
          </a:p>
        </p:txBody>
      </p:sp>
      <p:pic>
        <p:nvPicPr>
          <p:cNvPr id="3" name="Picture 2"/>
          <p:cNvPicPr>
            <a:picLocks noChangeAspect="1"/>
          </p:cNvPicPr>
          <p:nvPr/>
        </p:nvPicPr>
        <p:blipFill>
          <a:blip r:embed="rId2"/>
          <a:stretch>
            <a:fillRect/>
          </a:stretch>
        </p:blipFill>
        <p:spPr>
          <a:xfrm>
            <a:off x="339429" y="838199"/>
            <a:ext cx="10861971" cy="5508775"/>
          </a:xfrm>
          <a:prstGeom prst="rect">
            <a:avLst/>
          </a:prstGeom>
        </p:spPr>
      </p:pic>
    </p:spTree>
    <p:extLst>
      <p:ext uri="{BB962C8B-B14F-4D97-AF65-F5344CB8AC3E}">
        <p14:creationId xmlns:p14="http://schemas.microsoft.com/office/powerpoint/2010/main" val="26778196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80454" rIns="0" bIns="0" rtlCol="0">
            <a:spAutoFit/>
          </a:bodyPr>
          <a:lstStyle/>
          <a:p>
            <a:pPr marL="12700">
              <a:lnSpc>
                <a:spcPct val="100000"/>
              </a:lnSpc>
              <a:spcBef>
                <a:spcPts val="105"/>
              </a:spcBef>
            </a:pPr>
            <a:r>
              <a:rPr dirty="0"/>
              <a:t>Other</a:t>
            </a:r>
            <a:r>
              <a:rPr spc="-75" dirty="0"/>
              <a:t> </a:t>
            </a:r>
            <a:r>
              <a:rPr dirty="0"/>
              <a:t>Applicable</a:t>
            </a:r>
            <a:r>
              <a:rPr spc="-25" dirty="0"/>
              <a:t> </a:t>
            </a:r>
            <a:r>
              <a:rPr spc="-10" dirty="0"/>
              <a:t>Screenshots:</a:t>
            </a:r>
          </a:p>
        </p:txBody>
      </p:sp>
      <p:pic>
        <p:nvPicPr>
          <p:cNvPr id="4" name="Picture 3"/>
          <p:cNvPicPr>
            <a:picLocks noChangeAspect="1"/>
          </p:cNvPicPr>
          <p:nvPr/>
        </p:nvPicPr>
        <p:blipFill>
          <a:blip r:embed="rId2"/>
          <a:stretch>
            <a:fillRect/>
          </a:stretch>
        </p:blipFill>
        <p:spPr>
          <a:xfrm>
            <a:off x="253699" y="838199"/>
            <a:ext cx="10414301" cy="5546877"/>
          </a:xfrm>
          <a:prstGeom prst="rect">
            <a:avLst/>
          </a:prstGeom>
        </p:spPr>
      </p:pic>
    </p:spTree>
    <p:extLst>
      <p:ext uri="{BB962C8B-B14F-4D97-AF65-F5344CB8AC3E}">
        <p14:creationId xmlns:p14="http://schemas.microsoft.com/office/powerpoint/2010/main" val="33301730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80454" rIns="0" bIns="0" rtlCol="0">
            <a:spAutoFit/>
          </a:bodyPr>
          <a:lstStyle/>
          <a:p>
            <a:pPr marL="12700">
              <a:lnSpc>
                <a:spcPct val="100000"/>
              </a:lnSpc>
              <a:spcBef>
                <a:spcPts val="105"/>
              </a:spcBef>
            </a:pPr>
            <a:r>
              <a:rPr dirty="0"/>
              <a:t>Other</a:t>
            </a:r>
            <a:r>
              <a:rPr spc="-75" dirty="0"/>
              <a:t> </a:t>
            </a:r>
            <a:r>
              <a:rPr dirty="0"/>
              <a:t>Applicable</a:t>
            </a:r>
            <a:r>
              <a:rPr spc="-25" dirty="0"/>
              <a:t> </a:t>
            </a:r>
            <a:r>
              <a:rPr spc="-10" dirty="0"/>
              <a:t>Screenshots:</a:t>
            </a:r>
          </a:p>
        </p:txBody>
      </p:sp>
      <p:pic>
        <p:nvPicPr>
          <p:cNvPr id="3" name="Picture 2"/>
          <p:cNvPicPr>
            <a:picLocks noChangeAspect="1"/>
          </p:cNvPicPr>
          <p:nvPr/>
        </p:nvPicPr>
        <p:blipFill>
          <a:blip r:embed="rId2"/>
          <a:stretch>
            <a:fillRect/>
          </a:stretch>
        </p:blipFill>
        <p:spPr>
          <a:xfrm>
            <a:off x="491837" y="914399"/>
            <a:ext cx="10099963" cy="5470677"/>
          </a:xfrm>
          <a:prstGeom prst="rect">
            <a:avLst/>
          </a:prstGeom>
        </p:spPr>
      </p:pic>
    </p:spTree>
    <p:extLst>
      <p:ext uri="{BB962C8B-B14F-4D97-AF65-F5344CB8AC3E}">
        <p14:creationId xmlns:p14="http://schemas.microsoft.com/office/powerpoint/2010/main" val="31597258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latin typeface="Calibri"/>
                <a:cs typeface="Calibri"/>
              </a:rPr>
              <a:t>Orchestrate</a:t>
            </a:r>
            <a:r>
              <a:rPr spc="-70" dirty="0">
                <a:latin typeface="Calibri"/>
                <a:cs typeface="Calibri"/>
              </a:rPr>
              <a:t> </a:t>
            </a:r>
            <a:r>
              <a:rPr dirty="0">
                <a:latin typeface="Calibri"/>
                <a:cs typeface="Calibri"/>
              </a:rPr>
              <a:t>architecture </a:t>
            </a:r>
            <a:r>
              <a:rPr spc="-10" dirty="0">
                <a:latin typeface="Calibri"/>
                <a:cs typeface="Calibri"/>
              </a:rPr>
              <a:t>blueprint</a:t>
            </a:r>
          </a:p>
        </p:txBody>
      </p:sp>
      <p:pic>
        <p:nvPicPr>
          <p:cNvPr id="5" name="Picture 4" descr="architecture_blueprint_v2.png"/>
          <p:cNvPicPr>
            <a:picLocks noChangeAspect="1"/>
          </p:cNvPicPr>
          <p:nvPr/>
        </p:nvPicPr>
        <p:blipFill>
          <a:blip r:embed="rId2"/>
          <a:stretch>
            <a:fillRect/>
          </a:stretch>
        </p:blipFill>
        <p:spPr>
          <a:xfrm>
            <a:off x="533400" y="676275"/>
            <a:ext cx="11468100" cy="618172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372475" y="1171575"/>
            <a:ext cx="3019425" cy="4514850"/>
          </a:xfrm>
          <a:prstGeom prst="rect">
            <a:avLst/>
          </a:prstGeom>
        </p:spPr>
      </p:pic>
      <p:sp>
        <p:nvSpPr>
          <p:cNvPr id="3" name="object 3" descr="$PPTXTitle"/>
          <p:cNvSpPr txBox="1">
            <a:spLocks noGrp="1"/>
          </p:cNvSpPr>
          <p:nvPr>
            <p:ph type="title"/>
          </p:nvPr>
        </p:nvSpPr>
        <p:spPr>
          <a:prstGeom prst="rect">
            <a:avLst/>
          </a:prstGeom>
        </p:spPr>
        <p:txBody>
          <a:bodyPr vert="horz" wrap="square" lIns="0" tIns="16510" rIns="0" bIns="0" rtlCol="0">
            <a:spAutoFit/>
          </a:bodyPr>
          <a:lstStyle/>
          <a:p>
            <a:pPr marL="41275">
              <a:lnSpc>
                <a:spcPct val="100000"/>
              </a:lnSpc>
              <a:spcBef>
                <a:spcPts val="130"/>
              </a:spcBef>
            </a:pPr>
            <a:r>
              <a:rPr sz="3200" dirty="0"/>
              <a:t>Role</a:t>
            </a:r>
            <a:r>
              <a:rPr sz="3200" spc="-30" dirty="0"/>
              <a:t> </a:t>
            </a:r>
            <a:r>
              <a:rPr sz="3200" dirty="0"/>
              <a:t>of</a:t>
            </a:r>
            <a:r>
              <a:rPr sz="3200" spc="10" dirty="0"/>
              <a:t> </a:t>
            </a:r>
            <a:r>
              <a:rPr sz="3200" dirty="0"/>
              <a:t>Agentic</a:t>
            </a:r>
            <a:r>
              <a:rPr sz="3200" spc="-30" dirty="0"/>
              <a:t> </a:t>
            </a:r>
            <a:r>
              <a:rPr sz="3200" dirty="0"/>
              <a:t>AI</a:t>
            </a:r>
            <a:r>
              <a:rPr sz="3200" spc="35" dirty="0"/>
              <a:t> </a:t>
            </a:r>
            <a:r>
              <a:rPr sz="3200" dirty="0"/>
              <a:t>in</a:t>
            </a:r>
            <a:r>
              <a:rPr sz="3200" spc="-55" dirty="0"/>
              <a:t> </a:t>
            </a:r>
            <a:r>
              <a:rPr sz="3200" dirty="0"/>
              <a:t>the</a:t>
            </a:r>
            <a:r>
              <a:rPr sz="3200" spc="-30" dirty="0"/>
              <a:t> </a:t>
            </a:r>
            <a:r>
              <a:rPr sz="3200" spc="-10" dirty="0"/>
              <a:t>solution</a:t>
            </a:r>
            <a:endParaRPr sz="3200"/>
          </a:p>
        </p:txBody>
      </p:sp>
      <p:sp>
        <p:nvSpPr>
          <p:cNvPr id="4" name="object 4"/>
          <p:cNvSpPr txBox="1"/>
          <p:nvPr/>
        </p:nvSpPr>
        <p:spPr>
          <a:xfrm>
            <a:off x="701040" y="1192466"/>
            <a:ext cx="7205345" cy="4396716"/>
          </a:xfrm>
          <a:prstGeom prst="rect">
            <a:avLst/>
          </a:prstGeom>
        </p:spPr>
        <p:txBody>
          <a:bodyPr vert="horz" wrap="square" lIns="0" tIns="15875" rIns="0" bIns="0" rtlCol="0">
            <a:spAutoFit/>
          </a:bodyPr>
          <a:lstStyle/>
          <a:p>
            <a:pPr marL="12700">
              <a:lnSpc>
                <a:spcPct val="100000"/>
              </a:lnSpc>
              <a:spcBef>
                <a:spcPts val="125"/>
              </a:spcBef>
            </a:pPr>
            <a:r>
              <a:rPr lang="en-US" sz="1400" b="1" dirty="0" smtClean="0">
                <a:latin typeface="Arial"/>
                <a:cs typeface="Arial"/>
              </a:rPr>
              <a:t>Role of </a:t>
            </a:r>
            <a:r>
              <a:rPr lang="en-US" sz="1400" b="1" dirty="0" err="1" smtClean="0">
                <a:latin typeface="Arial"/>
                <a:cs typeface="Arial"/>
              </a:rPr>
              <a:t>Agentic</a:t>
            </a:r>
            <a:r>
              <a:rPr lang="en-US" sz="1400" b="1" dirty="0" smtClean="0">
                <a:latin typeface="Arial"/>
                <a:cs typeface="Arial"/>
              </a:rPr>
              <a:t> AI in College Admission Agent</a:t>
            </a:r>
            <a:endParaRPr lang="en-US" sz="1400" dirty="0" smtClean="0">
              <a:latin typeface="Arial"/>
              <a:cs typeface="Arial"/>
            </a:endParaRPr>
          </a:p>
          <a:p>
            <a:pPr marL="12700" marR="270510">
              <a:lnSpc>
                <a:spcPts val="1650"/>
              </a:lnSpc>
              <a:spcBef>
                <a:spcPts val="130"/>
              </a:spcBef>
            </a:pPr>
            <a:r>
              <a:rPr lang="en-US" sz="1400" b="1" dirty="0" err="1" smtClean="0">
                <a:latin typeface="Arial"/>
                <a:cs typeface="Arial"/>
              </a:rPr>
              <a:t>Agentic</a:t>
            </a:r>
            <a:r>
              <a:rPr lang="en-US" sz="1400" b="1" dirty="0" smtClean="0">
                <a:latin typeface="Arial"/>
                <a:cs typeface="Arial"/>
              </a:rPr>
              <a:t> AI enables the College Admission Agent to function as an intelligent, autonomous assistant rather than a simple FAQ bot. Built on IBM </a:t>
            </a:r>
            <a:r>
              <a:rPr lang="en-US" sz="1400" b="1" dirty="0" err="1" smtClean="0">
                <a:latin typeface="Arial"/>
                <a:cs typeface="Arial"/>
              </a:rPr>
              <a:t>watsonx</a:t>
            </a:r>
            <a:r>
              <a:rPr lang="en-US" sz="1400" b="1" dirty="0" smtClean="0">
                <a:latin typeface="Arial"/>
                <a:cs typeface="Arial"/>
              </a:rPr>
              <a:t> Orchestrate (currently running on GPT-OSS 120B, with IBM Granite models natively supported), it coordinates multiple specialized agents to deliver personalized admission guidance.</a:t>
            </a:r>
            <a:endParaRPr lang="en-US" sz="1400" dirty="0" smtClean="0">
              <a:latin typeface="Arial"/>
              <a:cs typeface="Arial"/>
            </a:endParaRPr>
          </a:p>
          <a:p>
            <a:pPr marL="12700" marR="37465">
              <a:lnSpc>
                <a:spcPts val="1650"/>
              </a:lnSpc>
              <a:spcBef>
                <a:spcPts val="80"/>
              </a:spcBef>
            </a:pPr>
            <a:r>
              <a:rPr lang="en-US" sz="1400" dirty="0" smtClean="0">
                <a:latin typeface="Arial"/>
                <a:cs typeface="Arial"/>
              </a:rPr>
              <a:t>Each agent performs a specific role—such as answering eligibility questions, recommending courses and scholarships, reviewing uploaded documents, and confirming applications—while working collaboratively. This</a:t>
            </a:r>
          </a:p>
          <a:p>
            <a:pPr marL="12700">
              <a:lnSpc>
                <a:spcPts val="1664"/>
              </a:lnSpc>
            </a:pPr>
            <a:r>
              <a:rPr lang="en-US" sz="1400" b="1" spc="-10" dirty="0" smtClean="0">
                <a:latin typeface="Arial"/>
                <a:cs typeface="Arial"/>
              </a:rPr>
              <a:t>multi-agent approach ensures efficient task execution and accurate, grounded results.</a:t>
            </a:r>
            <a:endParaRPr lang="en-US" sz="1400" dirty="0" smtClean="0">
              <a:latin typeface="Arial"/>
              <a:cs typeface="Arial"/>
            </a:endParaRPr>
          </a:p>
          <a:p>
            <a:pPr marL="12700">
              <a:lnSpc>
                <a:spcPts val="1650"/>
              </a:lnSpc>
            </a:pPr>
            <a:r>
              <a:rPr lang="en-US" sz="1400" dirty="0" err="1" smtClean="0">
                <a:latin typeface="Arial"/>
                <a:cs typeface="Arial"/>
              </a:rPr>
              <a:t>Agentic</a:t>
            </a:r>
            <a:r>
              <a:rPr lang="en-US" sz="1400" dirty="0" smtClean="0">
                <a:latin typeface="Arial"/>
                <a:cs typeface="Arial"/>
              </a:rPr>
              <a:t> AI also brings context awareness, understanding a student's details like marks, course interest, and</a:t>
            </a:r>
          </a:p>
          <a:p>
            <a:pPr marL="12700" marR="203200">
              <a:lnSpc>
                <a:spcPts val="1730"/>
              </a:lnSpc>
              <a:spcBef>
                <a:spcPts val="5"/>
              </a:spcBef>
            </a:pPr>
            <a:r>
              <a:rPr lang="en-US" sz="1400" dirty="0" smtClean="0">
                <a:latin typeface="Arial"/>
                <a:cs typeface="Arial"/>
              </a:rPr>
              <a:t>financial background to generate tailored recommendations. It supports real-time interaction, instantly responding as a student explores courses, fees and scholarships.</a:t>
            </a:r>
          </a:p>
          <a:p>
            <a:pPr marL="12700">
              <a:lnSpc>
                <a:spcPts val="1580"/>
              </a:lnSpc>
            </a:pPr>
            <a:r>
              <a:rPr lang="en-US" sz="1400" dirty="0" smtClean="0">
                <a:latin typeface="Arial"/>
                <a:cs typeface="Arial"/>
              </a:rPr>
              <a:t>Additionally, agents will communicate with each other, enabling better decision-making and</a:t>
            </a:r>
          </a:p>
          <a:p>
            <a:pPr marL="12700">
              <a:lnSpc>
                <a:spcPts val="1664"/>
              </a:lnSpc>
              <a:spcBef>
                <a:spcPts val="45"/>
              </a:spcBef>
            </a:pPr>
            <a:r>
              <a:rPr lang="en-US" sz="1400" dirty="0" smtClean="0">
                <a:latin typeface="Arial"/>
                <a:cs typeface="Arial"/>
              </a:rPr>
              <a:t>improved outcomes for every applicant.</a:t>
            </a:r>
          </a:p>
          <a:p>
            <a:pPr marL="12700">
              <a:lnSpc>
                <a:spcPts val="1655"/>
              </a:lnSpc>
            </a:pPr>
            <a:r>
              <a:rPr lang="en-US" sz="1400" dirty="0" smtClean="0">
                <a:latin typeface="Arial"/>
                <a:cs typeface="Arial"/>
              </a:rPr>
              <a:t>Overall, </a:t>
            </a:r>
            <a:r>
              <a:rPr lang="en-US" sz="1400" dirty="0" err="1" smtClean="0">
                <a:latin typeface="Arial"/>
                <a:cs typeface="Arial"/>
              </a:rPr>
              <a:t>Agentic</a:t>
            </a:r>
            <a:r>
              <a:rPr lang="en-US" sz="1400" dirty="0" smtClean="0">
                <a:latin typeface="Arial"/>
                <a:cs typeface="Arial"/>
              </a:rPr>
              <a:t> AI makes the system proactive, personalized, and goal-driven, acting like a</a:t>
            </a:r>
          </a:p>
          <a:p>
            <a:pPr marL="12700">
              <a:lnSpc>
                <a:spcPts val="1664"/>
              </a:lnSpc>
            </a:pPr>
            <a:r>
              <a:rPr lang="en-US" sz="1400" b="1" dirty="0" smtClean="0">
                <a:latin typeface="Arial"/>
                <a:cs typeface="Arial"/>
              </a:rPr>
              <a:t>smart digital admissions counselor that helps every student navigate their admission journey with confidence.</a:t>
            </a:r>
            <a:endParaRPr lang="en-US" sz="1400" dirty="0" smtClean="0">
              <a:latin typeface="Arial"/>
              <a:cs typeface="Arial"/>
            </a:endParaRPr>
          </a:p>
          <a:p>
            <a:pPr marL="12700">
              <a:lnSpc>
                <a:spcPct val="100000"/>
              </a:lnSpc>
              <a:spcBef>
                <a:spcPts val="125"/>
              </a:spcBef>
            </a:pPr>
            <a:endParaRPr sz="1400" dirty="0">
              <a:latin typeface="Arial"/>
              <a:cs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29616" rIns="0" bIns="0" rtlCol="0">
            <a:spAutoFit/>
          </a:bodyPr>
          <a:lstStyle/>
          <a:p>
            <a:pPr marL="343535">
              <a:lnSpc>
                <a:spcPct val="100000"/>
              </a:lnSpc>
              <a:spcBef>
                <a:spcPts val="100"/>
              </a:spcBef>
            </a:pPr>
            <a:r>
              <a:rPr dirty="0"/>
              <a:t>Novelty</a:t>
            </a:r>
            <a:r>
              <a:rPr spc="-30" dirty="0"/>
              <a:t> </a:t>
            </a:r>
            <a:r>
              <a:rPr dirty="0"/>
              <a:t>and</a:t>
            </a:r>
            <a:r>
              <a:rPr spc="-80" dirty="0"/>
              <a:t> </a:t>
            </a:r>
            <a:r>
              <a:rPr spc="-10" dirty="0"/>
              <a:t>Uniqueness</a:t>
            </a:r>
          </a:p>
        </p:txBody>
      </p:sp>
      <p:sp>
        <p:nvSpPr>
          <p:cNvPr id="3" name="object 3"/>
          <p:cNvSpPr txBox="1"/>
          <p:nvPr/>
        </p:nvSpPr>
        <p:spPr>
          <a:xfrm>
            <a:off x="856614" y="1232217"/>
            <a:ext cx="10956290" cy="5322676"/>
          </a:xfrm>
          <a:prstGeom prst="rect">
            <a:avLst/>
          </a:prstGeom>
        </p:spPr>
        <p:txBody>
          <a:bodyPr vert="horz" wrap="square" lIns="0" tIns="10795" rIns="0" bIns="0" rtlCol="0">
            <a:spAutoFit/>
          </a:bodyPr>
          <a:lstStyle/>
          <a:p>
            <a:pPr marL="12700" marR="28575">
              <a:lnSpc>
                <a:spcPct val="100800"/>
              </a:lnSpc>
              <a:spcBef>
                <a:spcPts val="85"/>
              </a:spcBef>
            </a:pPr>
            <a:r>
              <a:rPr lang="en-US" sz="1600" dirty="0" smtClean="0">
                <a:latin typeface="Arial"/>
                <a:cs typeface="Arial"/>
              </a:rPr>
              <a:t>The proposed College Admission Agent stands out by combining </a:t>
            </a:r>
            <a:r>
              <a:rPr lang="en-US" sz="1600" dirty="0" err="1" smtClean="0">
                <a:latin typeface="Arial"/>
                <a:cs typeface="Arial"/>
              </a:rPr>
              <a:t>Agentic</a:t>
            </a:r>
            <a:r>
              <a:rPr lang="en-US" sz="1600" dirty="0" smtClean="0">
                <a:latin typeface="Arial"/>
                <a:cs typeface="Arial"/>
              </a:rPr>
              <a:t> AI, RAG, and a real application workflow into a single intelligent system.</a:t>
            </a:r>
          </a:p>
          <a:p>
            <a:pPr>
              <a:lnSpc>
                <a:spcPct val="100000"/>
              </a:lnSpc>
              <a:spcBef>
                <a:spcPts val="110"/>
              </a:spcBef>
            </a:pPr>
            <a:endParaRPr lang="en-US" sz="1600" dirty="0" smtClean="0">
              <a:latin typeface="Arial"/>
              <a:cs typeface="Arial"/>
            </a:endParaRPr>
          </a:p>
          <a:p>
            <a:pPr marL="12700" marR="410209">
              <a:lnSpc>
                <a:spcPct val="100800"/>
              </a:lnSpc>
            </a:pPr>
            <a:r>
              <a:rPr lang="en-US" sz="1600" b="1" spc="-10" dirty="0" smtClean="0">
                <a:latin typeface="Arial"/>
                <a:cs typeface="Arial"/>
              </a:rPr>
              <a:t>Multi-Agent Intelligence – Instead of a single </a:t>
            </a:r>
            <a:r>
              <a:rPr lang="en-US" sz="1600" b="1" spc="-10" dirty="0" err="1" smtClean="0">
                <a:latin typeface="Arial"/>
                <a:cs typeface="Arial"/>
              </a:rPr>
              <a:t>chatbot</a:t>
            </a:r>
            <a:r>
              <a:rPr lang="en-US" sz="1600" b="1" spc="-10" dirty="0" smtClean="0">
                <a:latin typeface="Arial"/>
                <a:cs typeface="Arial"/>
              </a:rPr>
              <a:t>, specialized agents collaborate to answer questions, recommend courses/scholarships, and process applications.</a:t>
            </a:r>
            <a:endParaRPr lang="en-US" sz="1600" dirty="0" smtClean="0">
              <a:latin typeface="Arial"/>
              <a:cs typeface="Arial"/>
            </a:endParaRPr>
          </a:p>
          <a:p>
            <a:pPr marL="12700">
              <a:lnSpc>
                <a:spcPts val="2105"/>
              </a:lnSpc>
            </a:pPr>
            <a:r>
              <a:rPr lang="en-US" sz="1600" b="1" spc="-10" dirty="0" smtClean="0">
                <a:latin typeface="Arial"/>
                <a:cs typeface="Arial"/>
              </a:rPr>
              <a:t>RAG-Based Accuracy (</a:t>
            </a:r>
            <a:r>
              <a:rPr lang="en-US" sz="1600" b="1" spc="-10" dirty="0" err="1" smtClean="0">
                <a:latin typeface="Arial"/>
                <a:cs typeface="Arial"/>
              </a:rPr>
              <a:t>scaffolded</a:t>
            </a:r>
            <a:r>
              <a:rPr lang="en-US" sz="1600" b="1" spc="-10" dirty="0" smtClean="0">
                <a:latin typeface="Arial"/>
                <a:cs typeface="Arial"/>
              </a:rPr>
              <a:t>) – Designed to integrate real-time document retrieval with AI generation, reducing misinformation and</a:t>
            </a:r>
            <a:endParaRPr lang="en-US" sz="1600" dirty="0" smtClean="0">
              <a:latin typeface="Arial"/>
              <a:cs typeface="Arial"/>
            </a:endParaRPr>
          </a:p>
          <a:p>
            <a:pPr marL="12700">
              <a:lnSpc>
                <a:spcPct val="100000"/>
              </a:lnSpc>
              <a:spcBef>
                <a:spcPts val="15"/>
              </a:spcBef>
            </a:pPr>
            <a:r>
              <a:rPr lang="en-US" sz="1600" dirty="0" smtClean="0">
                <a:latin typeface="Arial"/>
                <a:cs typeface="Arial"/>
              </a:rPr>
              <a:t>ensuring trustworthy, grounded answers once admission PDFs are indexed.</a:t>
            </a:r>
          </a:p>
          <a:p>
            <a:pPr marL="12700" marR="394335">
              <a:lnSpc>
                <a:spcPts val="2180"/>
              </a:lnSpc>
              <a:spcBef>
                <a:spcPts val="75"/>
              </a:spcBef>
            </a:pPr>
            <a:r>
              <a:rPr lang="en-US" sz="1600" b="1" spc="-10" dirty="0" smtClean="0">
                <a:latin typeface="Arial"/>
                <a:cs typeface="Arial"/>
              </a:rPr>
              <a:t>End-to-End Application Flow – Goes beyond Q&amp;A: students can click Apply Now on a course or scholarship and receive a real reference number, not just information.</a:t>
            </a:r>
            <a:endParaRPr lang="en-US" sz="1600" dirty="0" smtClean="0">
              <a:latin typeface="Arial"/>
              <a:cs typeface="Arial"/>
            </a:endParaRPr>
          </a:p>
          <a:p>
            <a:pPr marL="12700" marR="421005">
              <a:lnSpc>
                <a:spcPts val="2100"/>
              </a:lnSpc>
              <a:spcBef>
                <a:spcPts val="60"/>
              </a:spcBef>
            </a:pPr>
            <a:r>
              <a:rPr lang="en-US" sz="1600" b="1" spc="-10" dirty="0" smtClean="0">
                <a:latin typeface="Arial"/>
                <a:cs typeface="Arial"/>
              </a:rPr>
              <a:t>Transparent, Structured Data – Eligibility, fees and scholarships are backed by structured, itemized data — no vague answers.</a:t>
            </a:r>
            <a:endParaRPr lang="en-US" sz="1600" dirty="0" smtClean="0">
              <a:latin typeface="Arial"/>
              <a:cs typeface="Arial"/>
            </a:endParaRPr>
          </a:p>
          <a:p>
            <a:pPr marL="12700">
              <a:lnSpc>
                <a:spcPts val="2120"/>
              </a:lnSpc>
            </a:pPr>
            <a:r>
              <a:rPr lang="en-US" sz="1600" b="1" spc="-10" dirty="0" smtClean="0">
                <a:latin typeface="Arial"/>
                <a:cs typeface="Arial"/>
              </a:rPr>
              <a:t>IBM watsonx.ai-Ready Architecture – A single, clearly documented integration point (</a:t>
            </a:r>
            <a:r>
              <a:rPr lang="en-US" sz="1600" b="1" spc="-10" dirty="0" err="1" smtClean="0">
                <a:latin typeface="Arial"/>
                <a:cs typeface="Arial"/>
              </a:rPr>
              <a:t>generate_ibm_response</a:t>
            </a:r>
            <a:r>
              <a:rPr lang="en-US" sz="1600" b="1" spc="-10" dirty="0" smtClean="0">
                <a:latin typeface="Arial"/>
                <a:cs typeface="Arial"/>
              </a:rPr>
              <a:t>()) lets the reasoning engine upgrade to Granite without touching the frontend.</a:t>
            </a:r>
            <a:endParaRPr lang="en-US" sz="1600" dirty="0" smtClean="0">
              <a:latin typeface="Arial"/>
              <a:cs typeface="Arial"/>
            </a:endParaRPr>
          </a:p>
          <a:p>
            <a:pPr marL="12700" marR="5080">
              <a:lnSpc>
                <a:spcPts val="2180"/>
              </a:lnSpc>
              <a:spcBef>
                <a:spcPts val="75"/>
              </a:spcBef>
            </a:pPr>
            <a:r>
              <a:rPr lang="en-US" sz="1600" b="1" dirty="0" smtClean="0">
                <a:latin typeface="Arial"/>
                <a:cs typeface="Arial"/>
              </a:rPr>
              <a:t>Modern, Accessible UI – A </a:t>
            </a:r>
            <a:r>
              <a:rPr lang="en-US" sz="1600" b="1" dirty="0" err="1" smtClean="0">
                <a:latin typeface="Arial"/>
                <a:cs typeface="Arial"/>
              </a:rPr>
              <a:t>ChatGPT</a:t>
            </a:r>
            <a:r>
              <a:rPr lang="en-US" sz="1600" b="1" dirty="0" smtClean="0">
                <a:latin typeface="Arial"/>
                <a:cs typeface="Arial"/>
              </a:rPr>
              <a:t>-style interface with dark/light mode, markdown responses, and a fully responsive design usable on any device.</a:t>
            </a:r>
            <a:endParaRPr lang="en-US" sz="1600" dirty="0" smtClean="0">
              <a:latin typeface="Arial"/>
              <a:cs typeface="Arial"/>
            </a:endParaRPr>
          </a:p>
          <a:p>
            <a:pPr marL="12700" marR="906144">
              <a:lnSpc>
                <a:spcPct val="100800"/>
              </a:lnSpc>
              <a:spcBef>
                <a:spcPts val="2025"/>
              </a:spcBef>
            </a:pPr>
            <a:r>
              <a:rPr lang="en-US" sz="1600" dirty="0" smtClean="0">
                <a:latin typeface="Arial"/>
                <a:cs typeface="Arial"/>
              </a:rPr>
              <a:t>This makes the solution a smart, adaptive, and proactive digital admissions counselor, not just a static FAQ page.</a:t>
            </a:r>
          </a:p>
          <a:p>
            <a:pPr marL="12700" marR="28575">
              <a:lnSpc>
                <a:spcPct val="100800"/>
              </a:lnSpc>
              <a:spcBef>
                <a:spcPts val="85"/>
              </a:spcBef>
            </a:pPr>
            <a:endParaRPr sz="1800" dirty="0">
              <a:latin typeface="Arial"/>
              <a:cs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5462" y="292036"/>
            <a:ext cx="6885940" cy="589136"/>
          </a:xfrm>
        </p:spPr>
        <p:txBody>
          <a:bodyPr/>
          <a:lstStyle/>
          <a:p>
            <a:pPr marL="0" marR="0" lvl="0" indent="0" rtl="0">
              <a:lnSpc>
                <a:spcPct val="157142"/>
              </a:lnSpc>
              <a:spcBef>
                <a:spcPts val="0"/>
              </a:spcBef>
              <a:spcAft>
                <a:spcPts val="0"/>
              </a:spcAft>
            </a:pPr>
            <a:r>
              <a:rPr lang="en-US" sz="2800" dirty="0" err="1">
                <a:solidFill>
                  <a:srgbClr val="000000"/>
                </a:solidFill>
                <a:ea typeface="Arial"/>
                <a:sym typeface="Arial"/>
              </a:rPr>
              <a:t>Git</a:t>
            </a:r>
            <a:r>
              <a:rPr lang="en-US" sz="2800" dirty="0">
                <a:solidFill>
                  <a:srgbClr val="000000"/>
                </a:solidFill>
                <a:ea typeface="Arial"/>
                <a:sym typeface="Arial"/>
              </a:rPr>
              <a:t> Hub Link</a:t>
            </a:r>
          </a:p>
        </p:txBody>
      </p:sp>
      <p:sp>
        <p:nvSpPr>
          <p:cNvPr id="3" name="Text Placeholder 2"/>
          <p:cNvSpPr>
            <a:spLocks noGrp="1"/>
          </p:cNvSpPr>
          <p:nvPr>
            <p:ph type="body" idx="1"/>
          </p:nvPr>
        </p:nvSpPr>
        <p:spPr>
          <a:xfrm>
            <a:off x="990600" y="1524000"/>
            <a:ext cx="9484360" cy="988989"/>
          </a:xfrm>
        </p:spPr>
        <p:txBody>
          <a:bodyPr/>
          <a:lstStyle/>
          <a:p>
            <a:pPr lvl="0" algn="l" rtl="0">
              <a:lnSpc>
                <a:spcPct val="162162"/>
              </a:lnSpc>
              <a:buClr>
                <a:srgbClr val="2B3541"/>
              </a:buClr>
              <a:buSzPts val="1850"/>
            </a:pPr>
            <a:r>
              <a:rPr lang="en-US" dirty="0" smtClean="0">
                <a:solidFill>
                  <a:srgbClr val="2B3541"/>
                </a:solidFill>
                <a:latin typeface="Times New Roman"/>
                <a:ea typeface="Times New Roman"/>
                <a:cs typeface="Times New Roman"/>
                <a:sym typeface="Times New Roman"/>
              </a:rPr>
              <a:t>· </a:t>
            </a:r>
            <a:r>
              <a:rPr lang="en-US" sz="2400" dirty="0">
                <a:solidFill>
                  <a:schemeClr val="accent5">
                    <a:lumMod val="75000"/>
                  </a:schemeClr>
                </a:solidFill>
                <a:latin typeface="Times New Roman"/>
                <a:ea typeface="Times New Roman"/>
                <a:cs typeface="Times New Roman"/>
                <a:sym typeface="Times New Roman"/>
              </a:rPr>
              <a:t>https://github.com/Amulya-2420030434/CollegeAdmissionAgent</a:t>
            </a:r>
            <a:r>
              <a:rPr lang="en-US" sz="2400" dirty="0" smtClean="0">
                <a:solidFill>
                  <a:schemeClr val="accent5">
                    <a:lumMod val="75000"/>
                  </a:schemeClr>
                </a:solidFill>
                <a:latin typeface="Times New Roman"/>
                <a:ea typeface="Times New Roman"/>
                <a:cs typeface="Times New Roman"/>
                <a:sym typeface="Times New Roman"/>
              </a:rPr>
              <a:t> </a:t>
            </a:r>
            <a:endParaRPr lang="en-US" sz="2400" dirty="0">
              <a:solidFill>
                <a:schemeClr val="accent5">
                  <a:lumMod val="75000"/>
                </a:schemeClr>
              </a:solidFill>
            </a:endParaRPr>
          </a:p>
          <a:p>
            <a:pPr lvl="0" algn="l" rtl="0">
              <a:lnSpc>
                <a:spcPct val="162162"/>
              </a:lnSpc>
              <a:buClr>
                <a:srgbClr val="2B3541"/>
              </a:buClr>
              <a:buSzPts val="1850"/>
            </a:pPr>
            <a:endParaRPr lang="en-US"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6806308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53492" rIns="0" bIns="0" rtlCol="0">
            <a:spAutoFit/>
          </a:bodyPr>
          <a:lstStyle/>
          <a:p>
            <a:pPr marL="694055">
              <a:lnSpc>
                <a:spcPct val="100000"/>
              </a:lnSpc>
              <a:spcBef>
                <a:spcPts val="100"/>
              </a:spcBef>
            </a:pPr>
            <a:r>
              <a:rPr dirty="0"/>
              <a:t>Future</a:t>
            </a:r>
            <a:r>
              <a:rPr spc="-75" dirty="0"/>
              <a:t> </a:t>
            </a:r>
            <a:r>
              <a:rPr spc="-20" dirty="0"/>
              <a:t>Scope</a:t>
            </a:r>
          </a:p>
        </p:txBody>
      </p:sp>
      <p:sp>
        <p:nvSpPr>
          <p:cNvPr id="3" name="object 3"/>
          <p:cNvSpPr txBox="1"/>
          <p:nvPr/>
        </p:nvSpPr>
        <p:spPr>
          <a:xfrm>
            <a:off x="1206817" y="3456559"/>
            <a:ext cx="105410" cy="312420"/>
          </a:xfrm>
          <a:prstGeom prst="rect">
            <a:avLst/>
          </a:prstGeom>
        </p:spPr>
        <p:txBody>
          <a:bodyPr vert="horz" wrap="square" lIns="0" tIns="16510" rIns="0" bIns="0" rtlCol="0">
            <a:spAutoFit/>
          </a:bodyPr>
          <a:lstStyle/>
          <a:p>
            <a:pPr marL="12700">
              <a:lnSpc>
                <a:spcPct val="100000"/>
              </a:lnSpc>
              <a:spcBef>
                <a:spcPts val="130"/>
              </a:spcBef>
            </a:pPr>
            <a:r>
              <a:rPr sz="1850" spc="-50" dirty="0">
                <a:solidFill>
                  <a:srgbClr val="2B3541"/>
                </a:solidFill>
                <a:latin typeface="Times New Roman"/>
                <a:cs typeface="Times New Roman"/>
              </a:rPr>
              <a:t>·</a:t>
            </a:r>
            <a:endParaRPr sz="1850">
              <a:latin typeface="Times New Roman"/>
              <a:cs typeface="Times New Roman"/>
            </a:endParaRPr>
          </a:p>
        </p:txBody>
      </p:sp>
      <p:sp>
        <p:nvSpPr>
          <p:cNvPr id="4" name="object 4"/>
          <p:cNvSpPr txBox="1"/>
          <p:nvPr/>
        </p:nvSpPr>
        <p:spPr>
          <a:xfrm>
            <a:off x="1181417" y="1315656"/>
            <a:ext cx="9294495" cy="3829766"/>
          </a:xfrm>
          <a:prstGeom prst="rect">
            <a:avLst/>
          </a:prstGeom>
        </p:spPr>
        <p:txBody>
          <a:bodyPr vert="horz" wrap="square" lIns="0" tIns="15875" rIns="0" bIns="0" rtlCol="0">
            <a:spAutoFit/>
          </a:bodyPr>
          <a:lstStyle/>
          <a:p>
            <a:pPr marL="218440" indent="-180340">
              <a:lnSpc>
                <a:spcPct val="100000"/>
              </a:lnSpc>
              <a:spcBef>
                <a:spcPts val="125"/>
              </a:spcBef>
              <a:buSzPct val="94594"/>
              <a:buAutoNum type="arabicPeriod"/>
              <a:tabLst>
                <a:tab pos="218440" algn="l"/>
              </a:tabLst>
            </a:pPr>
            <a:r>
              <a:rPr lang="en-US" sz="1850" b="1" dirty="0" smtClean="0">
                <a:solidFill>
                  <a:srgbClr val="2B3541"/>
                </a:solidFill>
                <a:latin typeface="Times New Roman"/>
                <a:cs typeface="Times New Roman"/>
              </a:rPr>
              <a:t>Real IBM watsonx.ai Granite Integration –</a:t>
            </a:r>
            <a:endParaRPr lang="en-US" sz="1850" dirty="0" smtClean="0">
              <a:latin typeface="Times New Roman"/>
              <a:cs typeface="Times New Roman"/>
            </a:endParaRPr>
          </a:p>
          <a:p>
            <a:pPr marL="38100" marR="30480">
              <a:lnSpc>
                <a:spcPct val="162400"/>
              </a:lnSpc>
            </a:pPr>
            <a:r>
              <a:rPr lang="en-US" sz="1850" dirty="0" smtClean="0">
                <a:solidFill>
                  <a:srgbClr val="2B3541"/>
                </a:solidFill>
                <a:latin typeface="Times New Roman"/>
                <a:cs typeface="Times New Roman"/>
              </a:rPr>
              <a:t>Replace the current rule-based fallback with a live call to IBM </a:t>
            </a:r>
            <a:r>
              <a:rPr lang="en-US" sz="1850" dirty="0" err="1" smtClean="0">
                <a:solidFill>
                  <a:srgbClr val="2B3541"/>
                </a:solidFill>
                <a:latin typeface="Times New Roman"/>
                <a:cs typeface="Times New Roman"/>
              </a:rPr>
              <a:t>watsonx.ai's</a:t>
            </a:r>
            <a:r>
              <a:rPr lang="en-US" sz="1850" dirty="0" smtClean="0">
                <a:solidFill>
                  <a:srgbClr val="2B3541"/>
                </a:solidFill>
                <a:latin typeface="Times New Roman"/>
                <a:cs typeface="Times New Roman"/>
              </a:rPr>
              <a:t> Granite model via </a:t>
            </a:r>
            <a:r>
              <a:rPr lang="en-US" sz="1850" dirty="0" err="1" smtClean="0">
                <a:solidFill>
                  <a:srgbClr val="2B3541"/>
                </a:solidFill>
                <a:latin typeface="Times New Roman"/>
                <a:cs typeface="Times New Roman"/>
              </a:rPr>
              <a:t>generate_ibm_response</a:t>
            </a:r>
            <a:r>
              <a:rPr lang="en-US" sz="1850" dirty="0" smtClean="0">
                <a:solidFill>
                  <a:srgbClr val="2B3541"/>
                </a:solidFill>
                <a:latin typeface="Times New Roman"/>
                <a:cs typeface="Times New Roman"/>
              </a:rPr>
              <a:t>(), and complete the RAG pipeline so answers are grounded in real, uploaded admission brochures and policy documents.</a:t>
            </a:r>
            <a:endParaRPr lang="en-US" sz="1850" dirty="0" smtClean="0">
              <a:latin typeface="Times New Roman"/>
              <a:cs typeface="Times New Roman"/>
            </a:endParaRPr>
          </a:p>
          <a:p>
            <a:pPr marL="218440" indent="-180340">
              <a:lnSpc>
                <a:spcPct val="100000"/>
              </a:lnSpc>
              <a:spcBef>
                <a:spcPts val="1385"/>
              </a:spcBef>
              <a:buSzPct val="94594"/>
              <a:buAutoNum type="arabicPeriod" startAt="2"/>
              <a:tabLst>
                <a:tab pos="218440" algn="l"/>
              </a:tabLst>
            </a:pPr>
            <a:r>
              <a:rPr lang="en-US" sz="1850" b="1" spc="-25" dirty="0" smtClean="0">
                <a:solidFill>
                  <a:srgbClr val="2B3541"/>
                </a:solidFill>
                <a:latin typeface="Times New Roman"/>
                <a:cs typeface="Times New Roman"/>
              </a:rPr>
              <a:t>Admin Dashboard &amp; Multilingual Support –</a:t>
            </a:r>
            <a:endParaRPr lang="en-US" sz="1850" dirty="0" smtClean="0">
              <a:latin typeface="Times New Roman"/>
              <a:cs typeface="Times New Roman"/>
            </a:endParaRPr>
          </a:p>
          <a:p>
            <a:pPr marL="38100" marR="423545">
              <a:lnSpc>
                <a:spcPct val="162400"/>
              </a:lnSpc>
            </a:pPr>
            <a:r>
              <a:rPr lang="en-US" sz="1850" dirty="0" smtClean="0">
                <a:solidFill>
                  <a:srgbClr val="2B3541"/>
                </a:solidFill>
                <a:latin typeface="Times New Roman"/>
                <a:cs typeface="Times New Roman"/>
              </a:rPr>
              <a:t>Add an admin dashboard to track and manage submitted applications in real time, and extend the chat with multilingual support (e.g. Hindi, Telugu) so more students can get guidance in their preferred language.</a:t>
            </a:r>
            <a:endParaRPr lang="en-US" sz="1850" dirty="0" smtClean="0">
              <a:latin typeface="Times New Roman"/>
              <a:cs typeface="Times New Roman"/>
            </a:endParaRPr>
          </a:p>
          <a:p>
            <a:pPr marL="218440" indent="-180340">
              <a:lnSpc>
                <a:spcPct val="100000"/>
              </a:lnSpc>
              <a:spcBef>
                <a:spcPts val="125"/>
              </a:spcBef>
              <a:buSzPct val="94594"/>
              <a:buAutoNum type="arabicPeriod"/>
              <a:tabLst>
                <a:tab pos="218440" algn="l"/>
              </a:tabLst>
            </a:pPr>
            <a:endParaRPr sz="1850" dirty="0">
              <a:latin typeface="Times New Roman"/>
              <a:cs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ctrTitle"/>
          </p:nvPr>
        </p:nvSpPr>
        <p:spPr>
          <a:prstGeom prst="rect">
            <a:avLst/>
          </a:prstGeom>
        </p:spPr>
        <p:txBody>
          <a:bodyPr vert="horz" wrap="square" lIns="0" tIns="12700" rIns="0" bIns="0" rtlCol="0">
            <a:spAutoFit/>
          </a:bodyPr>
          <a:lstStyle/>
          <a:p>
            <a:pPr marL="163830">
              <a:lnSpc>
                <a:spcPct val="100000"/>
              </a:lnSpc>
              <a:spcBef>
                <a:spcPts val="100"/>
              </a:spcBef>
            </a:pPr>
            <a:r>
              <a:rPr dirty="0"/>
              <a:t>Certificates</a:t>
            </a:r>
            <a:r>
              <a:rPr spc="-155" dirty="0"/>
              <a:t> </a:t>
            </a:r>
            <a:r>
              <a:rPr spc="-10" dirty="0"/>
              <a:t>Earned:</a:t>
            </a:r>
          </a:p>
        </p:txBody>
      </p:sp>
      <p:sp>
        <p:nvSpPr>
          <p:cNvPr id="3" name="object 3"/>
          <p:cNvSpPr txBox="1"/>
          <p:nvPr/>
        </p:nvSpPr>
        <p:spPr>
          <a:xfrm>
            <a:off x="631190" y="714374"/>
            <a:ext cx="5791835" cy="449580"/>
          </a:xfrm>
          <a:prstGeom prst="rect">
            <a:avLst/>
          </a:prstGeom>
        </p:spPr>
        <p:txBody>
          <a:bodyPr vert="horz" wrap="square" lIns="0" tIns="16510" rIns="0" bIns="0" rtlCol="0">
            <a:spAutoFit/>
          </a:bodyPr>
          <a:lstStyle/>
          <a:p>
            <a:pPr marL="12700">
              <a:lnSpc>
                <a:spcPct val="100000"/>
              </a:lnSpc>
              <a:spcBef>
                <a:spcPts val="130"/>
              </a:spcBef>
              <a:tabLst>
                <a:tab pos="1339215" algn="l"/>
              </a:tabLst>
            </a:pPr>
            <a:r>
              <a:rPr sz="2750" b="1" spc="-10" dirty="0">
                <a:latin typeface="Arial"/>
                <a:cs typeface="Arial"/>
              </a:rPr>
              <a:t>Please</a:t>
            </a:r>
            <a:r>
              <a:rPr sz="2750" b="1" dirty="0">
                <a:latin typeface="Arial"/>
                <a:cs typeface="Arial"/>
              </a:rPr>
              <a:t>	add</a:t>
            </a:r>
            <a:r>
              <a:rPr sz="2750" b="1" spc="100" dirty="0">
                <a:latin typeface="Arial"/>
                <a:cs typeface="Arial"/>
              </a:rPr>
              <a:t> </a:t>
            </a:r>
            <a:r>
              <a:rPr sz="2750" b="1" dirty="0">
                <a:latin typeface="Arial"/>
                <a:cs typeface="Arial"/>
              </a:rPr>
              <a:t>your</a:t>
            </a:r>
            <a:r>
              <a:rPr sz="2750" b="1" spc="85" dirty="0">
                <a:latin typeface="Arial"/>
                <a:cs typeface="Arial"/>
              </a:rPr>
              <a:t> </a:t>
            </a:r>
            <a:r>
              <a:rPr sz="2750" b="1" dirty="0">
                <a:latin typeface="Arial"/>
                <a:cs typeface="Arial"/>
              </a:rPr>
              <a:t>credly</a:t>
            </a:r>
            <a:r>
              <a:rPr sz="2750" b="1" spc="200" dirty="0">
                <a:latin typeface="Arial"/>
                <a:cs typeface="Arial"/>
              </a:rPr>
              <a:t> </a:t>
            </a:r>
            <a:r>
              <a:rPr sz="2750" b="1" spc="-10" dirty="0">
                <a:latin typeface="Arial"/>
                <a:cs typeface="Arial"/>
              </a:rPr>
              <a:t>certificate</a:t>
            </a:r>
            <a:endParaRPr sz="2750">
              <a:latin typeface="Arial"/>
              <a:cs typeface="Arial"/>
            </a:endParaRPr>
          </a:p>
        </p:txBody>
      </p:sp>
      <p:pic>
        <p:nvPicPr>
          <p:cNvPr id="6" name="Picture 5"/>
          <p:cNvPicPr>
            <a:picLocks noChangeAspect="1"/>
          </p:cNvPicPr>
          <p:nvPr/>
        </p:nvPicPr>
        <p:blipFill>
          <a:blip r:embed="rId2"/>
          <a:stretch>
            <a:fillRect/>
          </a:stretch>
        </p:blipFill>
        <p:spPr>
          <a:xfrm>
            <a:off x="2133600" y="1206386"/>
            <a:ext cx="7315199" cy="5270614"/>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descr="$PPTXTitle"/>
          <p:cNvSpPr txBox="1">
            <a:spLocks noGrp="1"/>
          </p:cNvSpPr>
          <p:nvPr>
            <p:ph type="ctrTitle"/>
          </p:nvPr>
        </p:nvSpPr>
        <p:spPr>
          <a:prstGeom prst="rect">
            <a:avLst/>
          </a:prstGeom>
        </p:spPr>
        <p:txBody>
          <a:bodyPr vert="horz" wrap="square" lIns="0" tIns="12700" rIns="0" bIns="0" rtlCol="0">
            <a:spAutoFit/>
          </a:bodyPr>
          <a:lstStyle/>
          <a:p>
            <a:pPr marL="12700">
              <a:lnSpc>
                <a:spcPct val="100000"/>
              </a:lnSpc>
              <a:spcBef>
                <a:spcPts val="100"/>
              </a:spcBef>
            </a:pPr>
            <a:r>
              <a:rPr dirty="0"/>
              <a:t>Certificates</a:t>
            </a:r>
            <a:r>
              <a:rPr spc="-150" dirty="0"/>
              <a:t> </a:t>
            </a:r>
            <a:r>
              <a:rPr spc="-10" dirty="0"/>
              <a:t>Earned:</a:t>
            </a:r>
          </a:p>
        </p:txBody>
      </p:sp>
      <p:sp>
        <p:nvSpPr>
          <p:cNvPr id="4" name="object 4"/>
          <p:cNvSpPr txBox="1"/>
          <p:nvPr/>
        </p:nvSpPr>
        <p:spPr>
          <a:xfrm>
            <a:off x="575944" y="825182"/>
            <a:ext cx="3632835" cy="334645"/>
          </a:xfrm>
          <a:prstGeom prst="rect">
            <a:avLst/>
          </a:prstGeom>
        </p:spPr>
        <p:txBody>
          <a:bodyPr vert="horz" wrap="square" lIns="0" tIns="15875" rIns="0" bIns="0" rtlCol="0">
            <a:spAutoFit/>
          </a:bodyPr>
          <a:lstStyle/>
          <a:p>
            <a:pPr marL="12700">
              <a:lnSpc>
                <a:spcPct val="100000"/>
              </a:lnSpc>
              <a:spcBef>
                <a:spcPts val="125"/>
              </a:spcBef>
            </a:pPr>
            <a:r>
              <a:rPr sz="2000" b="1" dirty="0">
                <a:latin typeface="Arial"/>
                <a:cs typeface="Arial"/>
              </a:rPr>
              <a:t>Add</a:t>
            </a:r>
            <a:r>
              <a:rPr sz="2000" b="1" spc="-70" dirty="0">
                <a:latin typeface="Arial"/>
                <a:cs typeface="Arial"/>
              </a:rPr>
              <a:t> </a:t>
            </a:r>
            <a:r>
              <a:rPr sz="2000" b="1" dirty="0">
                <a:latin typeface="Arial"/>
                <a:cs typeface="Arial"/>
              </a:rPr>
              <a:t>your</a:t>
            </a:r>
            <a:r>
              <a:rPr sz="2000" b="1" spc="5" dirty="0">
                <a:latin typeface="Arial"/>
                <a:cs typeface="Arial"/>
              </a:rPr>
              <a:t> </a:t>
            </a:r>
            <a:r>
              <a:rPr sz="2000" b="1" dirty="0">
                <a:latin typeface="Arial"/>
                <a:cs typeface="Arial"/>
              </a:rPr>
              <a:t>IBM BOB</a:t>
            </a:r>
            <a:r>
              <a:rPr sz="2000" b="1" spc="-70" dirty="0">
                <a:latin typeface="Arial"/>
                <a:cs typeface="Arial"/>
              </a:rPr>
              <a:t> </a:t>
            </a:r>
            <a:r>
              <a:rPr sz="2000" b="1" spc="-10" dirty="0">
                <a:latin typeface="Arial"/>
                <a:cs typeface="Arial"/>
              </a:rPr>
              <a:t>Certificate</a:t>
            </a:r>
            <a:endParaRPr sz="2000">
              <a:latin typeface="Arial"/>
              <a:cs typeface="Arial"/>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6400" y="1447800"/>
            <a:ext cx="9442708" cy="4632461"/>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417889" y="2775479"/>
            <a:ext cx="5293140" cy="174845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853</TotalTime>
  <Words>1380</Words>
  <Application>Microsoft Office PowerPoint</Application>
  <PresentationFormat>Widescreen</PresentationFormat>
  <Paragraphs>117</Paragraphs>
  <Slides>26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Times New Roman</vt:lpstr>
      <vt:lpstr>Office Theme</vt:lpstr>
      <vt:lpstr>PowerPoint Presentation</vt:lpstr>
      <vt:lpstr>Project Tile –</vt:lpstr>
      <vt:lpstr>Problem Statement – College Admission Agent</vt:lpstr>
      <vt:lpstr>Proposed Solution -</vt:lpstr>
      <vt:lpstr>Technology Used</vt:lpstr>
      <vt:lpstr>Orchestrate component Used -</vt:lpstr>
      <vt:lpstr>Agent Instructions Screenshot-</vt:lpstr>
      <vt:lpstr>Agent Instructions Screenshot-</vt:lpstr>
      <vt:lpstr>Agent Instructions Screenshot-</vt:lpstr>
      <vt:lpstr>PowerPoint Presentation</vt:lpstr>
      <vt:lpstr>Other Applicable Screenshots:</vt:lpstr>
      <vt:lpstr>Other Applicable Screenshots:</vt:lpstr>
      <vt:lpstr>Other Applicable Screenshots:</vt:lpstr>
      <vt:lpstr>Other Applicable Screenshots:</vt:lpstr>
      <vt:lpstr>Other Applicable Screenshots:</vt:lpstr>
      <vt:lpstr>Other Applicable Screenshots:</vt:lpstr>
      <vt:lpstr>Other Applicable Screenshots:</vt:lpstr>
      <vt:lpstr>Other Applicable Screenshots:</vt:lpstr>
      <vt:lpstr>Orchestrate architecture blueprint</vt:lpstr>
      <vt:lpstr>Role of Agentic AI in the solution</vt:lpstr>
      <vt:lpstr>Novelty and Uniqueness</vt:lpstr>
      <vt:lpstr>Git Hub Link</vt:lpstr>
      <vt:lpstr>Future Scope</vt:lpstr>
      <vt:lpstr>Certificates Earned:</vt:lpstr>
      <vt:lpstr>Certificates Earned:</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Microsoft account</cp:lastModifiedBy>
  <cp:revision>55</cp:revision>
  <dcterms:created xsi:type="dcterms:W3CDTF">2026-07-09T03:10:26Z</dcterms:created>
  <dcterms:modified xsi:type="dcterms:W3CDTF">2026-07-12T15:12:02Z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2026-07-08T00:00:00Z</vt:filetime>
  </property>
  <property fmtid="{D5CDD505-2E9C-101B-9397-08002B2CF9AE}" pid="3" name="LastSaved">
    <vt:filetime>2026-07-09T00:00:00Z</vt:filetime>
  </property>
</Properties>
</file>